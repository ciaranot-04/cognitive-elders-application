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y="10287000" cx="18288000"/>
  <p:notesSz cx="6858000" cy="9144000"/>
  <p:embeddedFontLst>
    <p:embeddedFont>
      <p:font typeface="Public Sans Black"/>
      <p:bold r:id="rId14"/>
      <p:boldItalic r:id="rId15"/>
    </p:embeddedFont>
    <p:embeddedFont>
      <p:font typeface="Public Sans"/>
      <p:regular r:id="rId16"/>
      <p:bold r:id="rId17"/>
      <p:italic r:id="rId18"/>
      <p:boldItalic r:id="rId19"/>
    </p:embeddedFont>
    <p:embeddedFont>
      <p:font typeface="Sansita"/>
      <p:regular r:id="rId20"/>
      <p:bold r:id="rId21"/>
      <p:italic r:id="rId22"/>
      <p:boldItalic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Sansita-regular.fntdata"/><Relationship Id="rId11" Type="http://schemas.openxmlformats.org/officeDocument/2006/relationships/slide" Target="slides/slide6.xml"/><Relationship Id="rId22" Type="http://schemas.openxmlformats.org/officeDocument/2006/relationships/font" Target="fonts/Sansita-italic.fntdata"/><Relationship Id="rId10" Type="http://schemas.openxmlformats.org/officeDocument/2006/relationships/slide" Target="slides/slide5.xml"/><Relationship Id="rId21" Type="http://schemas.openxmlformats.org/officeDocument/2006/relationships/font" Target="fonts/Sansita-bold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23" Type="http://schemas.openxmlformats.org/officeDocument/2006/relationships/font" Target="fonts/Sansita-bold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PublicSansBlack-boldItalic.fntdata"/><Relationship Id="rId14" Type="http://schemas.openxmlformats.org/officeDocument/2006/relationships/font" Target="fonts/PublicSansBlack-bold.fntdata"/><Relationship Id="rId17" Type="http://schemas.openxmlformats.org/officeDocument/2006/relationships/font" Target="fonts/PublicSans-bold.fntdata"/><Relationship Id="rId16" Type="http://schemas.openxmlformats.org/officeDocument/2006/relationships/font" Target="fonts/PublicSans-regular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PublicSans-boldItalic.fntdata"/><Relationship Id="rId6" Type="http://schemas.openxmlformats.org/officeDocument/2006/relationships/slide" Target="slides/slide1.xml"/><Relationship Id="rId18" Type="http://schemas.openxmlformats.org/officeDocument/2006/relationships/font" Target="fonts/PublicSans-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mc:AlternateContent>
    <mc:Choice Requires="p14">
      <p:transition spd="slow" p14:dur="1000">
        <p:fade thruBlk="1"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Relationship Id="rId4" Type="http://schemas.openxmlformats.org/officeDocument/2006/relationships/image" Target="../media/image1.png"/><Relationship Id="rId5" Type="http://schemas.openxmlformats.org/officeDocument/2006/relationships/image" Target="../media/image3.png"/><Relationship Id="rId6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FFE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10598305" y="187797"/>
            <a:ext cx="7250371" cy="7638149"/>
          </a:xfrm>
          <a:custGeom>
            <a:rect b="b" l="l" r="r" t="t"/>
            <a:pathLst>
              <a:path extrusionOk="0" h="7638149" w="7250371">
                <a:moveTo>
                  <a:pt x="0" y="0"/>
                </a:moveTo>
                <a:lnTo>
                  <a:pt x="7250371" y="0"/>
                </a:lnTo>
                <a:lnTo>
                  <a:pt x="7250371" y="7638149"/>
                </a:lnTo>
                <a:lnTo>
                  <a:pt x="0" y="76381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85" name="Google Shape;85;p13"/>
          <p:cNvSpPr txBox="1"/>
          <p:nvPr/>
        </p:nvSpPr>
        <p:spPr>
          <a:xfrm>
            <a:off x="807750" y="6476800"/>
            <a:ext cx="9549600" cy="192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891" u="sng" cap="none" strike="noStrike">
                <a:solidFill>
                  <a:srgbClr val="000000"/>
                </a:solidFill>
                <a:latin typeface="Public Sans Black"/>
                <a:ea typeface="Public Sans Black"/>
                <a:cs typeface="Public Sans Black"/>
                <a:sym typeface="Public Sans Black"/>
              </a:rPr>
              <a:t>SQUARES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9535533" y="8052832"/>
            <a:ext cx="7723767" cy="15259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082042"/>
                </a:solidFill>
                <a:latin typeface="Public Sans Black"/>
                <a:ea typeface="Public Sans Black"/>
                <a:cs typeface="Public Sans Black"/>
                <a:sym typeface="Public Sans Black"/>
              </a:rPr>
              <a:t>CIARAN O’ TOOLE</a:t>
            </a:r>
            <a:endParaRPr/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082042"/>
                </a:solidFill>
                <a:latin typeface="Public Sans Black"/>
                <a:ea typeface="Public Sans Black"/>
                <a:cs typeface="Public Sans Black"/>
                <a:sym typeface="Public Sans Black"/>
              </a:rPr>
              <a:t>C00297672</a:t>
            </a:r>
            <a:endParaRPr/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082042"/>
                </a:solidFill>
                <a:latin typeface="Public Sans Black"/>
                <a:ea typeface="Public Sans Black"/>
                <a:cs typeface="Public Sans Black"/>
                <a:sym typeface="Public Sans Black"/>
              </a:rPr>
              <a:t>03/02/2026</a:t>
            </a:r>
            <a:endParaRPr/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082042"/>
                </a:solidFill>
                <a:latin typeface="Public Sans Black"/>
                <a:ea typeface="Public Sans Black"/>
                <a:cs typeface="Public Sans Black"/>
                <a:sym typeface="Public Sans Black"/>
              </a:rPr>
              <a:t>YEAR 3 PROJECT</a:t>
            </a:r>
            <a:endParaRPr/>
          </a:p>
        </p:txBody>
      </p:sp>
      <p:cxnSp>
        <p:nvCxnSpPr>
          <p:cNvPr id="87" name="Google Shape;87;p13"/>
          <p:cNvCxnSpPr/>
          <p:nvPr/>
        </p:nvCxnSpPr>
        <p:spPr>
          <a:xfrm flipH="1" rot="10800000">
            <a:off x="-782912" y="-160887"/>
            <a:ext cx="3181332" cy="2860209"/>
          </a:xfrm>
          <a:prstGeom prst="straightConnector1">
            <a:avLst/>
          </a:prstGeom>
          <a:noFill/>
          <a:ln cap="flat" cmpd="sng" w="285750">
            <a:solidFill>
              <a:srgbClr val="000B3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88" name="Google Shape;88;p13"/>
          <p:cNvCxnSpPr/>
          <p:nvPr/>
        </p:nvCxnSpPr>
        <p:spPr>
          <a:xfrm flipH="1" rot="10800000">
            <a:off x="-301155" y="-301668"/>
            <a:ext cx="3666701" cy="3484254"/>
          </a:xfrm>
          <a:prstGeom prst="straightConnector1">
            <a:avLst/>
          </a:prstGeom>
          <a:noFill/>
          <a:ln cap="flat" cmpd="sng" w="361950">
            <a:solidFill>
              <a:srgbClr val="000B3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9" name="Google Shape;89;p13"/>
          <p:cNvSpPr txBox="1"/>
          <p:nvPr/>
        </p:nvSpPr>
        <p:spPr>
          <a:xfrm>
            <a:off x="2291375" y="8401294"/>
            <a:ext cx="5887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2399" u="none" cap="none" strike="noStrike">
                <a:solidFill>
                  <a:srgbClr val="000B3D"/>
                </a:solidFill>
                <a:latin typeface="Sansita"/>
                <a:ea typeface="Sansita"/>
                <a:cs typeface="Sansita"/>
                <a:sym typeface="Sansita"/>
              </a:rPr>
              <a:t>Structured support for cognitive health.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FFE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4" name="Google Shape;94;p14"/>
          <p:cNvGrpSpPr/>
          <p:nvPr/>
        </p:nvGrpSpPr>
        <p:grpSpPr>
          <a:xfrm>
            <a:off x="1028700" y="3643313"/>
            <a:ext cx="16221078" cy="5614988"/>
            <a:chOff x="0" y="-38100"/>
            <a:chExt cx="4806245" cy="1663700"/>
          </a:xfrm>
        </p:grpSpPr>
        <p:sp>
          <p:nvSpPr>
            <p:cNvPr id="95" name="Google Shape;95;p14"/>
            <p:cNvSpPr/>
            <p:nvPr/>
          </p:nvSpPr>
          <p:spPr>
            <a:xfrm>
              <a:off x="0" y="0"/>
              <a:ext cx="4806245" cy="1625600"/>
            </a:xfrm>
            <a:custGeom>
              <a:rect b="b" l="l" r="r" t="t"/>
              <a:pathLst>
                <a:path extrusionOk="0" h="1625600" w="4806245">
                  <a:moveTo>
                    <a:pt x="0" y="0"/>
                  </a:moveTo>
                  <a:lnTo>
                    <a:pt x="4806245" y="0"/>
                  </a:lnTo>
                  <a:lnTo>
                    <a:pt x="4806245" y="1625600"/>
                  </a:lnTo>
                  <a:lnTo>
                    <a:pt x="0" y="1625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cap="sq" cmpd="sng" w="19050">
              <a:solidFill>
                <a:srgbClr val="000B3D"/>
              </a:solidFill>
              <a:prstDash val="solid"/>
              <a:miter lim="8000"/>
              <a:headEnd len="sm" w="sm" type="none"/>
              <a:tailEnd len="sm" w="sm" type="none"/>
            </a:ln>
          </p:spPr>
        </p:sp>
        <p:sp>
          <p:nvSpPr>
            <p:cNvPr id="96" name="Google Shape;96;p14"/>
            <p:cNvSpPr txBox="1"/>
            <p:nvPr/>
          </p:nvSpPr>
          <p:spPr>
            <a:xfrm>
              <a:off x="0" y="-38100"/>
              <a:ext cx="4806244" cy="1663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2150" lIns="42150" spcFirstLastPara="1" rIns="42150" wrap="square" tIns="4215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97" name="Google Shape;97;p14"/>
          <p:cNvCxnSpPr/>
          <p:nvPr/>
        </p:nvCxnSpPr>
        <p:spPr>
          <a:xfrm>
            <a:off x="1028700" y="1038225"/>
            <a:ext cx="16230600" cy="0"/>
          </a:xfrm>
          <a:prstGeom prst="straightConnector1">
            <a:avLst/>
          </a:prstGeom>
          <a:noFill/>
          <a:ln cap="flat" cmpd="sng" w="19050">
            <a:solidFill>
              <a:srgbClr val="000B3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98" name="Google Shape;98;p14"/>
          <p:cNvCxnSpPr/>
          <p:nvPr/>
        </p:nvCxnSpPr>
        <p:spPr>
          <a:xfrm>
            <a:off x="1038225" y="1038225"/>
            <a:ext cx="0" cy="2888451"/>
          </a:xfrm>
          <a:prstGeom prst="straightConnector1">
            <a:avLst/>
          </a:prstGeom>
          <a:noFill/>
          <a:ln cap="flat" cmpd="sng" w="19050">
            <a:solidFill>
              <a:srgbClr val="000B3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99" name="Google Shape;99;p14"/>
          <p:cNvCxnSpPr/>
          <p:nvPr/>
        </p:nvCxnSpPr>
        <p:spPr>
          <a:xfrm>
            <a:off x="17249775" y="1038225"/>
            <a:ext cx="0" cy="5549501"/>
          </a:xfrm>
          <a:prstGeom prst="straightConnector1">
            <a:avLst/>
          </a:prstGeom>
          <a:noFill/>
          <a:ln cap="flat" cmpd="sng" w="19050">
            <a:solidFill>
              <a:srgbClr val="000B3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0" name="Google Shape;100;p14"/>
          <p:cNvCxnSpPr/>
          <p:nvPr/>
        </p:nvCxnSpPr>
        <p:spPr>
          <a:xfrm rot="10800000">
            <a:off x="11449050" y="9248775"/>
            <a:ext cx="3089076" cy="0"/>
          </a:xfrm>
          <a:prstGeom prst="straightConnector1">
            <a:avLst/>
          </a:prstGeom>
          <a:noFill/>
          <a:ln cap="flat" cmpd="sng" w="19050">
            <a:solidFill>
              <a:srgbClr val="00774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1" name="Google Shape;101;p14"/>
          <p:cNvSpPr txBox="1"/>
          <p:nvPr/>
        </p:nvSpPr>
        <p:spPr>
          <a:xfrm>
            <a:off x="1321901" y="4065850"/>
            <a:ext cx="11009100" cy="509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3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Squares is mobile application which provides elderly individuals cognitive enhancement structured around everyday tasks. </a:t>
            </a:r>
            <a:endParaRPr/>
          </a:p>
          <a:p>
            <a:pPr indent="0" lvl="0" marL="0" marR="0" rtl="0" algn="l">
              <a:lnSpc>
                <a:spcPct val="14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32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3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software, which supports independent living and cognitive function, employs a virtual coach to encourage commitment through personalised productivity comments and incentives. </a:t>
            </a:r>
            <a:endParaRPr/>
          </a:p>
          <a:p>
            <a:pPr indent="0" lvl="0" marL="0" marR="0" rtl="0" algn="l">
              <a:lnSpc>
                <a:spcPct val="14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32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3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 </a:t>
            </a:r>
            <a:r>
              <a:rPr lang="en-US" sz="2432"/>
              <a:t>comparison</a:t>
            </a:r>
            <a:r>
              <a:rPr b="0" i="0" lang="en-US" sz="243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to traditional puzzles like </a:t>
            </a:r>
            <a:r>
              <a:rPr lang="en-US" sz="2432"/>
              <a:t>Sudoku</a:t>
            </a:r>
            <a:r>
              <a:rPr b="0" i="0" lang="en-US" sz="243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/Crosswords, Squares emphasises useful cognitive abilities related to daily activities and is offered to elderly individuals through an intuitive, age-appropriate user interface. </a:t>
            </a:r>
            <a:endParaRPr/>
          </a:p>
        </p:txBody>
      </p:sp>
      <p:sp>
        <p:nvSpPr>
          <p:cNvPr id="102" name="Google Shape;102;p14"/>
          <p:cNvSpPr/>
          <p:nvPr/>
        </p:nvSpPr>
        <p:spPr>
          <a:xfrm>
            <a:off x="13428074" y="4530326"/>
            <a:ext cx="2491324" cy="4114800"/>
          </a:xfrm>
          <a:custGeom>
            <a:rect b="b" l="l" r="r" t="t"/>
            <a:pathLst>
              <a:path extrusionOk="0" h="4114800" w="2491324">
                <a:moveTo>
                  <a:pt x="0" y="0"/>
                </a:moveTo>
                <a:lnTo>
                  <a:pt x="2491325" y="0"/>
                </a:lnTo>
                <a:lnTo>
                  <a:pt x="2491325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03" name="Google Shape;103;p14"/>
          <p:cNvSpPr/>
          <p:nvPr/>
        </p:nvSpPr>
        <p:spPr>
          <a:xfrm>
            <a:off x="1616472" y="1766122"/>
            <a:ext cx="1222047" cy="1287407"/>
          </a:xfrm>
          <a:custGeom>
            <a:rect b="b" l="l" r="r" t="t"/>
            <a:pathLst>
              <a:path extrusionOk="0" h="1287407" w="1222047">
                <a:moveTo>
                  <a:pt x="0" y="0"/>
                </a:moveTo>
                <a:lnTo>
                  <a:pt x="1222047" y="0"/>
                </a:lnTo>
                <a:lnTo>
                  <a:pt x="1222047" y="1287406"/>
                </a:lnTo>
                <a:lnTo>
                  <a:pt x="0" y="128740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04" name="Google Shape;104;p14"/>
          <p:cNvSpPr txBox="1"/>
          <p:nvPr/>
        </p:nvSpPr>
        <p:spPr>
          <a:xfrm>
            <a:off x="7302329" y="2052616"/>
            <a:ext cx="9299752" cy="9049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24" u="none" cap="none" strike="noStrike">
                <a:solidFill>
                  <a:srgbClr val="000B3D"/>
                </a:solidFill>
                <a:latin typeface="Public Sans Black"/>
                <a:ea typeface="Public Sans Black"/>
                <a:cs typeface="Public Sans Black"/>
                <a:sym typeface="Public Sans Black"/>
              </a:rPr>
              <a:t>WHAT IS SQUARES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FFE"/>
        </a:soli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Google Shape;109;p15"/>
          <p:cNvGrpSpPr/>
          <p:nvPr/>
        </p:nvGrpSpPr>
        <p:grpSpPr>
          <a:xfrm>
            <a:off x="6499947" y="3622550"/>
            <a:ext cx="10759353" cy="5593723"/>
            <a:chOff x="0" y="-38100"/>
            <a:chExt cx="3187956" cy="1657399"/>
          </a:xfrm>
        </p:grpSpPr>
        <p:sp>
          <p:nvSpPr>
            <p:cNvPr id="110" name="Google Shape;110;p15"/>
            <p:cNvSpPr/>
            <p:nvPr/>
          </p:nvSpPr>
          <p:spPr>
            <a:xfrm>
              <a:off x="0" y="0"/>
              <a:ext cx="3187956" cy="1619299"/>
            </a:xfrm>
            <a:custGeom>
              <a:rect b="b" l="l" r="r" t="t"/>
              <a:pathLst>
                <a:path extrusionOk="0" h="1619299" w="3187956">
                  <a:moveTo>
                    <a:pt x="0" y="0"/>
                  </a:moveTo>
                  <a:lnTo>
                    <a:pt x="3187956" y="0"/>
                  </a:lnTo>
                  <a:lnTo>
                    <a:pt x="3187956" y="1619299"/>
                  </a:lnTo>
                  <a:lnTo>
                    <a:pt x="0" y="161929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cap="sq" cmpd="sng" w="19050">
              <a:solidFill>
                <a:srgbClr val="000B3D"/>
              </a:solidFill>
              <a:prstDash val="solid"/>
              <a:miter lim="8000"/>
              <a:headEnd len="sm" w="sm" type="none"/>
              <a:tailEnd len="sm" w="sm" type="none"/>
            </a:ln>
          </p:spPr>
        </p:sp>
        <p:sp>
          <p:nvSpPr>
            <p:cNvPr id="111" name="Google Shape;111;p15"/>
            <p:cNvSpPr txBox="1"/>
            <p:nvPr/>
          </p:nvSpPr>
          <p:spPr>
            <a:xfrm>
              <a:off x="0" y="-38100"/>
              <a:ext cx="3187956" cy="16573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2150" lIns="42150" spcFirstLastPara="1" rIns="42150" wrap="square" tIns="4215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112" name="Google Shape;112;p15"/>
          <p:cNvCxnSpPr/>
          <p:nvPr/>
        </p:nvCxnSpPr>
        <p:spPr>
          <a:xfrm>
            <a:off x="17249775" y="1028700"/>
            <a:ext cx="0" cy="2881948"/>
          </a:xfrm>
          <a:prstGeom prst="straightConnector1">
            <a:avLst/>
          </a:prstGeom>
          <a:noFill/>
          <a:ln cap="flat" cmpd="sng" w="19050">
            <a:solidFill>
              <a:srgbClr val="000B3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3" name="Google Shape;113;p15"/>
          <p:cNvCxnSpPr/>
          <p:nvPr/>
        </p:nvCxnSpPr>
        <p:spPr>
          <a:xfrm>
            <a:off x="1038225" y="1038225"/>
            <a:ext cx="0" cy="8178048"/>
          </a:xfrm>
          <a:prstGeom prst="straightConnector1">
            <a:avLst/>
          </a:prstGeom>
          <a:noFill/>
          <a:ln cap="flat" cmpd="sng" w="19050">
            <a:solidFill>
              <a:srgbClr val="000B3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4" name="Google Shape;114;p15"/>
          <p:cNvCxnSpPr/>
          <p:nvPr/>
        </p:nvCxnSpPr>
        <p:spPr>
          <a:xfrm rot="10800000">
            <a:off x="1028700" y="1038225"/>
            <a:ext cx="16202025" cy="0"/>
          </a:xfrm>
          <a:prstGeom prst="straightConnector1">
            <a:avLst/>
          </a:prstGeom>
          <a:noFill/>
          <a:ln cap="flat" cmpd="sng" w="19050">
            <a:solidFill>
              <a:srgbClr val="000B3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5" name="Google Shape;115;p15"/>
          <p:cNvCxnSpPr/>
          <p:nvPr/>
        </p:nvCxnSpPr>
        <p:spPr>
          <a:xfrm rot="10800000">
            <a:off x="1038225" y="9206748"/>
            <a:ext cx="5428925" cy="9525"/>
          </a:xfrm>
          <a:prstGeom prst="straightConnector1">
            <a:avLst/>
          </a:prstGeom>
          <a:noFill/>
          <a:ln cap="flat" cmpd="sng" w="19050">
            <a:solidFill>
              <a:srgbClr val="000B3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6" name="Google Shape;116;p15"/>
          <p:cNvCxnSpPr/>
          <p:nvPr/>
        </p:nvCxnSpPr>
        <p:spPr>
          <a:xfrm>
            <a:off x="6509472" y="1038225"/>
            <a:ext cx="0" cy="2881948"/>
          </a:xfrm>
          <a:prstGeom prst="straightConnector1">
            <a:avLst/>
          </a:prstGeom>
          <a:noFill/>
          <a:ln cap="flat" cmpd="sng" w="19050">
            <a:solidFill>
              <a:srgbClr val="000B3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7" name="Google Shape;117;p15"/>
          <p:cNvSpPr/>
          <p:nvPr/>
        </p:nvSpPr>
        <p:spPr>
          <a:xfrm>
            <a:off x="1028700" y="1038225"/>
            <a:ext cx="5471247" cy="2712913"/>
          </a:xfrm>
          <a:custGeom>
            <a:rect b="b" l="l" r="r" t="t"/>
            <a:pathLst>
              <a:path extrusionOk="0" h="2712913" w="5471247">
                <a:moveTo>
                  <a:pt x="0" y="0"/>
                </a:moveTo>
                <a:lnTo>
                  <a:pt x="5471247" y="0"/>
                </a:lnTo>
                <a:lnTo>
                  <a:pt x="5471247" y="2712913"/>
                </a:lnTo>
                <a:lnTo>
                  <a:pt x="0" y="271291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3516" l="0" r="0" t="0"/>
            </a:stretch>
          </a:blipFill>
          <a:ln>
            <a:noFill/>
          </a:ln>
        </p:spPr>
      </p:sp>
      <p:sp>
        <p:nvSpPr>
          <p:cNvPr id="118" name="Google Shape;118;p15"/>
          <p:cNvSpPr/>
          <p:nvPr/>
        </p:nvSpPr>
        <p:spPr>
          <a:xfrm>
            <a:off x="1047750" y="3751138"/>
            <a:ext cx="5452197" cy="2732568"/>
          </a:xfrm>
          <a:custGeom>
            <a:rect b="b" l="l" r="r" t="t"/>
            <a:pathLst>
              <a:path extrusionOk="0" h="2732568" w="5452197">
                <a:moveTo>
                  <a:pt x="0" y="0"/>
                </a:moveTo>
                <a:lnTo>
                  <a:pt x="5452197" y="0"/>
                </a:lnTo>
                <a:lnTo>
                  <a:pt x="5452197" y="2732567"/>
                </a:lnTo>
                <a:lnTo>
                  <a:pt x="0" y="273256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-6592" l="0" r="0" t="-13453"/>
            </a:stretch>
          </a:blipFill>
          <a:ln>
            <a:noFill/>
          </a:ln>
        </p:spPr>
      </p:sp>
      <p:sp>
        <p:nvSpPr>
          <p:cNvPr id="119" name="Google Shape;119;p15"/>
          <p:cNvSpPr/>
          <p:nvPr/>
        </p:nvSpPr>
        <p:spPr>
          <a:xfrm>
            <a:off x="1047750" y="6483705"/>
            <a:ext cx="5471247" cy="2723043"/>
          </a:xfrm>
          <a:custGeom>
            <a:rect b="b" l="l" r="r" t="t"/>
            <a:pathLst>
              <a:path extrusionOk="0" h="2723043" w="5471247">
                <a:moveTo>
                  <a:pt x="0" y="0"/>
                </a:moveTo>
                <a:lnTo>
                  <a:pt x="5471247" y="0"/>
                </a:lnTo>
                <a:lnTo>
                  <a:pt x="5471247" y="2723043"/>
                </a:lnTo>
                <a:lnTo>
                  <a:pt x="0" y="272304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-16838" l="0" r="0" t="-4424"/>
            </a:stretch>
          </a:blipFill>
          <a:ln>
            <a:noFill/>
          </a:ln>
        </p:spPr>
      </p:sp>
      <p:sp>
        <p:nvSpPr>
          <p:cNvPr id="120" name="Google Shape;120;p15"/>
          <p:cNvSpPr/>
          <p:nvPr/>
        </p:nvSpPr>
        <p:spPr>
          <a:xfrm>
            <a:off x="15649082" y="2208490"/>
            <a:ext cx="1295676" cy="1364973"/>
          </a:xfrm>
          <a:custGeom>
            <a:rect b="b" l="l" r="r" t="t"/>
            <a:pathLst>
              <a:path extrusionOk="0" h="1364973" w="1295676">
                <a:moveTo>
                  <a:pt x="0" y="0"/>
                </a:moveTo>
                <a:lnTo>
                  <a:pt x="1295675" y="0"/>
                </a:lnTo>
                <a:lnTo>
                  <a:pt x="1295675" y="1364973"/>
                </a:lnTo>
                <a:lnTo>
                  <a:pt x="0" y="136497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21" name="Google Shape;121;p15"/>
          <p:cNvSpPr txBox="1"/>
          <p:nvPr/>
        </p:nvSpPr>
        <p:spPr>
          <a:xfrm>
            <a:off x="7053349" y="1645328"/>
            <a:ext cx="9658177" cy="17004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89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131" u="none" cap="none" strike="noStrike">
                <a:solidFill>
                  <a:srgbClr val="000B3D"/>
                </a:solidFill>
                <a:latin typeface="Public Sans Black"/>
                <a:ea typeface="Public Sans Black"/>
                <a:cs typeface="Public Sans Black"/>
                <a:sym typeface="Public Sans Black"/>
              </a:rPr>
              <a:t>APP STRUCTURE: LOGIC</a:t>
            </a:r>
            <a:endParaRPr/>
          </a:p>
        </p:txBody>
      </p:sp>
      <p:sp>
        <p:nvSpPr>
          <p:cNvPr id="122" name="Google Shape;122;p15"/>
          <p:cNvSpPr txBox="1"/>
          <p:nvPr/>
        </p:nvSpPr>
        <p:spPr>
          <a:xfrm>
            <a:off x="6814500" y="4054575"/>
            <a:ext cx="10130400" cy="717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29" u="none" cap="none" strike="noStrike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React Native is a Framework used commonly for mobile application development using JavaScript and React (JavaScript Library). Using this a simple elderly friendly UI can be created.</a:t>
            </a:r>
            <a:endParaRPr/>
          </a:p>
          <a:p>
            <a:pPr indent="0" lvl="0" marL="0" marR="0" rtl="0" algn="just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29" u="none" cap="none" strike="noStrike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0" lvl="0" marL="0" marR="0" rtl="0" algn="just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29" u="none" cap="none" strike="noStrike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Using PuzzleMe I will develop my own applications and include PuzzleMe features through the PuzzleMe APIs.</a:t>
            </a:r>
            <a:endParaRPr/>
          </a:p>
          <a:p>
            <a:pPr indent="0" lvl="0" marL="0" marR="0" rtl="0" algn="just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29" u="none" cap="none" strike="noStrike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0" lvl="0" marL="0" marR="0" rtl="0" algn="just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29" u="none" cap="none" strike="noStrike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Amazon Web Services will be used for hosting User data, track scores, etc. This allows for updating &amp; tracking of user data through our app. </a:t>
            </a:r>
            <a:endParaRPr/>
          </a:p>
          <a:p>
            <a:pPr indent="0" lvl="0" marL="0" marR="0" rtl="0" algn="just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29" u="none" cap="none" strike="noStrike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0" lvl="0" marL="0" marR="0" rtl="0" algn="just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29" u="none" cap="none" strike="noStrike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0" lvl="0" marL="0" marR="0" rtl="0" algn="just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29" u="none" cap="none" strike="noStrike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0" lvl="0" marL="0" marR="0" rtl="0" algn="just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29" u="none" cap="none" strike="noStrike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0" lvl="0" marL="0" marR="0" rtl="0" algn="just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29" u="none" cap="none" strike="noStrike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FFE"/>
        </a:solid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7" name="Google Shape;127;p16"/>
          <p:cNvGrpSpPr/>
          <p:nvPr/>
        </p:nvGrpSpPr>
        <p:grpSpPr>
          <a:xfrm>
            <a:off x="1028700" y="3746983"/>
            <a:ext cx="8591550" cy="5511317"/>
            <a:chOff x="0" y="-38100"/>
            <a:chExt cx="2545644" cy="1632983"/>
          </a:xfrm>
        </p:grpSpPr>
        <p:sp>
          <p:nvSpPr>
            <p:cNvPr id="128" name="Google Shape;128;p16"/>
            <p:cNvSpPr/>
            <p:nvPr/>
          </p:nvSpPr>
          <p:spPr>
            <a:xfrm>
              <a:off x="0" y="0"/>
              <a:ext cx="2545644" cy="1594883"/>
            </a:xfrm>
            <a:custGeom>
              <a:rect b="b" l="l" r="r" t="t"/>
              <a:pathLst>
                <a:path extrusionOk="0" h="1594883" w="2545644">
                  <a:moveTo>
                    <a:pt x="0" y="0"/>
                  </a:moveTo>
                  <a:lnTo>
                    <a:pt x="2545644" y="0"/>
                  </a:lnTo>
                  <a:lnTo>
                    <a:pt x="2545644" y="1594883"/>
                  </a:lnTo>
                  <a:lnTo>
                    <a:pt x="0" y="159488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cap="sq" cmpd="sng" w="19050">
              <a:solidFill>
                <a:srgbClr val="000B3D"/>
              </a:solidFill>
              <a:prstDash val="solid"/>
              <a:miter lim="8000"/>
              <a:headEnd len="sm" w="sm" type="none"/>
              <a:tailEnd len="sm" w="sm" type="none"/>
            </a:ln>
          </p:spPr>
        </p:sp>
        <p:sp>
          <p:nvSpPr>
            <p:cNvPr id="129" name="Google Shape;129;p16"/>
            <p:cNvSpPr txBox="1"/>
            <p:nvPr/>
          </p:nvSpPr>
          <p:spPr>
            <a:xfrm>
              <a:off x="0" y="-38100"/>
              <a:ext cx="2545644" cy="163298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2150" lIns="42150" spcFirstLastPara="1" rIns="42150" wrap="square" tIns="4215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0" name="Google Shape;130;p16"/>
          <p:cNvGrpSpPr/>
          <p:nvPr/>
        </p:nvGrpSpPr>
        <p:grpSpPr>
          <a:xfrm>
            <a:off x="9999550" y="3714836"/>
            <a:ext cx="7259750" cy="1241835"/>
            <a:chOff x="0" y="-47625"/>
            <a:chExt cx="2151037" cy="367951"/>
          </a:xfrm>
        </p:grpSpPr>
        <p:sp>
          <p:nvSpPr>
            <p:cNvPr id="131" name="Google Shape;131;p16"/>
            <p:cNvSpPr/>
            <p:nvPr/>
          </p:nvSpPr>
          <p:spPr>
            <a:xfrm>
              <a:off x="0" y="0"/>
              <a:ext cx="2151037" cy="320326"/>
            </a:xfrm>
            <a:custGeom>
              <a:rect b="b" l="l" r="r" t="t"/>
              <a:pathLst>
                <a:path extrusionOk="0" h="320326" w="2151037">
                  <a:moveTo>
                    <a:pt x="0" y="0"/>
                  </a:moveTo>
                  <a:lnTo>
                    <a:pt x="2151037" y="0"/>
                  </a:lnTo>
                  <a:lnTo>
                    <a:pt x="2151037" y="320326"/>
                  </a:lnTo>
                  <a:lnTo>
                    <a:pt x="0" y="32032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cap="sq" cmpd="sng" w="19050">
              <a:solidFill>
                <a:srgbClr val="000B3D"/>
              </a:solidFill>
              <a:prstDash val="solid"/>
              <a:miter lim="8000"/>
              <a:headEnd len="sm" w="sm" type="none"/>
              <a:tailEnd len="sm" w="sm" type="none"/>
            </a:ln>
          </p:spPr>
        </p:sp>
        <p:sp>
          <p:nvSpPr>
            <p:cNvPr id="132" name="Google Shape;132;p16"/>
            <p:cNvSpPr txBox="1"/>
            <p:nvPr/>
          </p:nvSpPr>
          <p:spPr>
            <a:xfrm>
              <a:off x="0" y="-47625"/>
              <a:ext cx="2151037" cy="36795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2150" lIns="42150" spcFirstLastPara="1" rIns="42150" wrap="square" tIns="42150">
              <a:noAutofit/>
            </a:bodyPr>
            <a:lstStyle/>
            <a:p>
              <a:pPr indent="0" lvl="0" marL="0" marR="0" rtl="0" algn="ctr">
                <a:lnSpc>
                  <a:spcPct val="140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999" u="none" cap="none" strike="noStrike">
                  <a:solidFill>
                    <a:srgbClr val="000B3D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PUZZLES WITH INCREASING DIFFICULTY</a:t>
              </a:r>
              <a:endParaRPr/>
            </a:p>
          </p:txBody>
        </p:sp>
      </p:grpSp>
      <p:grpSp>
        <p:nvGrpSpPr>
          <p:cNvPr id="133" name="Google Shape;133;p16"/>
          <p:cNvGrpSpPr/>
          <p:nvPr/>
        </p:nvGrpSpPr>
        <p:grpSpPr>
          <a:xfrm>
            <a:off x="9999550" y="5148361"/>
            <a:ext cx="7259750" cy="1241835"/>
            <a:chOff x="0" y="-47625"/>
            <a:chExt cx="2151037" cy="367951"/>
          </a:xfrm>
        </p:grpSpPr>
        <p:sp>
          <p:nvSpPr>
            <p:cNvPr id="134" name="Google Shape;134;p16"/>
            <p:cNvSpPr/>
            <p:nvPr/>
          </p:nvSpPr>
          <p:spPr>
            <a:xfrm>
              <a:off x="0" y="0"/>
              <a:ext cx="2151037" cy="320326"/>
            </a:xfrm>
            <a:custGeom>
              <a:rect b="b" l="l" r="r" t="t"/>
              <a:pathLst>
                <a:path extrusionOk="0" h="320326" w="2151037">
                  <a:moveTo>
                    <a:pt x="0" y="0"/>
                  </a:moveTo>
                  <a:lnTo>
                    <a:pt x="2151037" y="0"/>
                  </a:lnTo>
                  <a:lnTo>
                    <a:pt x="2151037" y="320326"/>
                  </a:lnTo>
                  <a:lnTo>
                    <a:pt x="0" y="32032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cap="sq" cmpd="sng" w="19050">
              <a:solidFill>
                <a:srgbClr val="000B3D"/>
              </a:solidFill>
              <a:prstDash val="solid"/>
              <a:miter lim="8000"/>
              <a:headEnd len="sm" w="sm" type="none"/>
              <a:tailEnd len="sm" w="sm" type="none"/>
            </a:ln>
          </p:spPr>
        </p:sp>
        <p:sp>
          <p:nvSpPr>
            <p:cNvPr id="135" name="Google Shape;135;p16"/>
            <p:cNvSpPr txBox="1"/>
            <p:nvPr/>
          </p:nvSpPr>
          <p:spPr>
            <a:xfrm>
              <a:off x="0" y="-47625"/>
              <a:ext cx="2151037" cy="36795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2150" lIns="42150" spcFirstLastPara="1" rIns="42150" wrap="square" tIns="42150">
              <a:noAutofit/>
            </a:bodyPr>
            <a:lstStyle/>
            <a:p>
              <a:pPr indent="0" lvl="0" marL="0" marR="0" rtl="0" algn="ctr">
                <a:lnSpc>
                  <a:spcPct val="140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999" u="none" cap="none" strike="noStrike">
                  <a:solidFill>
                    <a:srgbClr val="000B3D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ASSISTED  GUIDANCE</a:t>
              </a:r>
              <a:endParaRPr/>
            </a:p>
          </p:txBody>
        </p:sp>
      </p:grpSp>
      <p:grpSp>
        <p:nvGrpSpPr>
          <p:cNvPr id="136" name="Google Shape;136;p16"/>
          <p:cNvGrpSpPr/>
          <p:nvPr/>
        </p:nvGrpSpPr>
        <p:grpSpPr>
          <a:xfrm>
            <a:off x="9999550" y="6582940"/>
            <a:ext cx="7259750" cy="1241835"/>
            <a:chOff x="0" y="-47625"/>
            <a:chExt cx="2151037" cy="367951"/>
          </a:xfrm>
        </p:grpSpPr>
        <p:sp>
          <p:nvSpPr>
            <p:cNvPr id="137" name="Google Shape;137;p16"/>
            <p:cNvSpPr/>
            <p:nvPr/>
          </p:nvSpPr>
          <p:spPr>
            <a:xfrm>
              <a:off x="0" y="0"/>
              <a:ext cx="2151037" cy="320326"/>
            </a:xfrm>
            <a:custGeom>
              <a:rect b="b" l="l" r="r" t="t"/>
              <a:pathLst>
                <a:path extrusionOk="0" h="320326" w="2151037">
                  <a:moveTo>
                    <a:pt x="0" y="0"/>
                  </a:moveTo>
                  <a:lnTo>
                    <a:pt x="2151037" y="0"/>
                  </a:lnTo>
                  <a:lnTo>
                    <a:pt x="2151037" y="320326"/>
                  </a:lnTo>
                  <a:lnTo>
                    <a:pt x="0" y="32032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cap="sq" cmpd="sng" w="19050">
              <a:solidFill>
                <a:srgbClr val="000B3D"/>
              </a:solidFill>
              <a:prstDash val="solid"/>
              <a:miter lim="8000"/>
              <a:headEnd len="sm" w="sm" type="none"/>
              <a:tailEnd len="sm" w="sm" type="none"/>
            </a:ln>
          </p:spPr>
        </p:sp>
        <p:sp>
          <p:nvSpPr>
            <p:cNvPr id="138" name="Google Shape;138;p16"/>
            <p:cNvSpPr txBox="1"/>
            <p:nvPr/>
          </p:nvSpPr>
          <p:spPr>
            <a:xfrm>
              <a:off x="0" y="-47625"/>
              <a:ext cx="2151037" cy="36795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2150" lIns="42150" spcFirstLastPara="1" rIns="42150" wrap="square" tIns="42150">
              <a:noAutofit/>
            </a:bodyPr>
            <a:lstStyle/>
            <a:p>
              <a:pPr indent="0" lvl="0" marL="0" marR="0" rtl="0" algn="ctr">
                <a:lnSpc>
                  <a:spcPct val="140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999" u="none" cap="none" strike="noStrike">
                  <a:solidFill>
                    <a:srgbClr val="000B3D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PROGRESS &amp; ANALYTICS</a:t>
              </a:r>
              <a:endParaRPr/>
            </a:p>
          </p:txBody>
        </p:sp>
      </p:grpSp>
      <p:grpSp>
        <p:nvGrpSpPr>
          <p:cNvPr id="139" name="Google Shape;139;p16"/>
          <p:cNvGrpSpPr/>
          <p:nvPr/>
        </p:nvGrpSpPr>
        <p:grpSpPr>
          <a:xfrm>
            <a:off x="9999550" y="8016465"/>
            <a:ext cx="7259750" cy="1241835"/>
            <a:chOff x="0" y="-47625"/>
            <a:chExt cx="2151037" cy="367951"/>
          </a:xfrm>
        </p:grpSpPr>
        <p:sp>
          <p:nvSpPr>
            <p:cNvPr id="140" name="Google Shape;140;p16"/>
            <p:cNvSpPr/>
            <p:nvPr/>
          </p:nvSpPr>
          <p:spPr>
            <a:xfrm>
              <a:off x="0" y="0"/>
              <a:ext cx="2151037" cy="320326"/>
            </a:xfrm>
            <a:custGeom>
              <a:rect b="b" l="l" r="r" t="t"/>
              <a:pathLst>
                <a:path extrusionOk="0" h="320326" w="2151037">
                  <a:moveTo>
                    <a:pt x="0" y="0"/>
                  </a:moveTo>
                  <a:lnTo>
                    <a:pt x="2151037" y="0"/>
                  </a:lnTo>
                  <a:lnTo>
                    <a:pt x="2151037" y="320326"/>
                  </a:lnTo>
                  <a:lnTo>
                    <a:pt x="0" y="32032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cap="sq" cmpd="sng" w="19050">
              <a:solidFill>
                <a:srgbClr val="000B3D"/>
              </a:solidFill>
              <a:prstDash val="solid"/>
              <a:miter lim="8000"/>
              <a:headEnd len="sm" w="sm" type="none"/>
              <a:tailEnd len="sm" w="sm" type="none"/>
            </a:ln>
          </p:spPr>
        </p:sp>
        <p:sp>
          <p:nvSpPr>
            <p:cNvPr id="141" name="Google Shape;141;p16"/>
            <p:cNvSpPr txBox="1"/>
            <p:nvPr/>
          </p:nvSpPr>
          <p:spPr>
            <a:xfrm>
              <a:off x="0" y="-47625"/>
              <a:ext cx="2151037" cy="36795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2150" lIns="42150" spcFirstLastPara="1" rIns="42150" wrap="square" tIns="42150">
              <a:noAutofit/>
            </a:bodyPr>
            <a:lstStyle/>
            <a:p>
              <a:pPr indent="0" lvl="0" marL="0" marR="0" rtl="0" algn="ctr">
                <a:lnSpc>
                  <a:spcPct val="140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999" u="none" cap="none" strike="noStrike">
                  <a:solidFill>
                    <a:srgbClr val="000B3D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DAILY REMINDERS</a:t>
              </a:r>
              <a:endParaRPr/>
            </a:p>
          </p:txBody>
        </p:sp>
      </p:grpSp>
      <p:cxnSp>
        <p:nvCxnSpPr>
          <p:cNvPr id="142" name="Google Shape;142;p16"/>
          <p:cNvCxnSpPr/>
          <p:nvPr/>
        </p:nvCxnSpPr>
        <p:spPr>
          <a:xfrm>
            <a:off x="1038225" y="1038225"/>
            <a:ext cx="0" cy="2888451"/>
          </a:xfrm>
          <a:prstGeom prst="straightConnector1">
            <a:avLst/>
          </a:prstGeom>
          <a:noFill/>
          <a:ln cap="flat" cmpd="sng" w="19050">
            <a:solidFill>
              <a:srgbClr val="000B3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3" name="Google Shape;143;p16"/>
          <p:cNvCxnSpPr/>
          <p:nvPr/>
        </p:nvCxnSpPr>
        <p:spPr>
          <a:xfrm>
            <a:off x="17249775" y="1047750"/>
            <a:ext cx="0" cy="2862898"/>
          </a:xfrm>
          <a:prstGeom prst="straightConnector1">
            <a:avLst/>
          </a:prstGeom>
          <a:noFill/>
          <a:ln cap="flat" cmpd="sng" w="19050">
            <a:solidFill>
              <a:srgbClr val="000B3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4" name="Google Shape;144;p16"/>
          <p:cNvCxnSpPr/>
          <p:nvPr/>
        </p:nvCxnSpPr>
        <p:spPr>
          <a:xfrm rot="10800000">
            <a:off x="1038225" y="1047750"/>
            <a:ext cx="16221075" cy="0"/>
          </a:xfrm>
          <a:prstGeom prst="straightConnector1">
            <a:avLst/>
          </a:prstGeom>
          <a:noFill/>
          <a:ln cap="flat" cmpd="sng" w="19050">
            <a:solidFill>
              <a:srgbClr val="000B3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5" name="Google Shape;145;p16"/>
          <p:cNvSpPr/>
          <p:nvPr/>
        </p:nvSpPr>
        <p:spPr>
          <a:xfrm>
            <a:off x="15414812" y="1822719"/>
            <a:ext cx="1222047" cy="1287407"/>
          </a:xfrm>
          <a:custGeom>
            <a:rect b="b" l="l" r="r" t="t"/>
            <a:pathLst>
              <a:path extrusionOk="0" h="1287407" w="1222047">
                <a:moveTo>
                  <a:pt x="0" y="0"/>
                </a:moveTo>
                <a:lnTo>
                  <a:pt x="1222046" y="0"/>
                </a:lnTo>
                <a:lnTo>
                  <a:pt x="1222046" y="1287407"/>
                </a:lnTo>
                <a:lnTo>
                  <a:pt x="0" y="128740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46" name="Google Shape;146;p16"/>
          <p:cNvSpPr txBox="1"/>
          <p:nvPr/>
        </p:nvSpPr>
        <p:spPr>
          <a:xfrm>
            <a:off x="3933825" y="1822700"/>
            <a:ext cx="10420350" cy="17004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9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131" u="none" cap="none" strike="noStrike">
                <a:solidFill>
                  <a:srgbClr val="000B3D"/>
                </a:solidFill>
                <a:latin typeface="Public Sans Black"/>
                <a:ea typeface="Public Sans Black"/>
                <a:cs typeface="Public Sans Black"/>
                <a:sym typeface="Public Sans Black"/>
              </a:rPr>
              <a:t>APP STRUCTURE: PUZZLES</a:t>
            </a:r>
            <a:endParaRPr/>
          </a:p>
        </p:txBody>
      </p:sp>
      <p:sp>
        <p:nvSpPr>
          <p:cNvPr id="147" name="Google Shape;147;p16"/>
          <p:cNvSpPr txBox="1"/>
          <p:nvPr/>
        </p:nvSpPr>
        <p:spPr>
          <a:xfrm>
            <a:off x="1418915" y="4091320"/>
            <a:ext cx="7811100" cy="508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29" u="none" cap="none" strike="noStrike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Squares is a cognitive puzzle application that modifies its current state of difficulty according to user progression monitored by an AWS database.</a:t>
            </a:r>
            <a:endParaRPr/>
          </a:p>
          <a:p>
            <a:pPr indent="0" lvl="0" marL="0" marR="0" rtl="0" algn="l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29" u="none" cap="none" strike="noStrike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0" lvl="0" marL="0" marR="0" rtl="0" algn="l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29" u="none" cap="none" strike="noStrike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Puzzles automatically adjusts difficulty according to performance. </a:t>
            </a:r>
            <a:endParaRPr/>
          </a:p>
          <a:p>
            <a:pPr indent="0" lvl="0" marL="0" marR="0" rtl="0" algn="l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29" u="none" cap="none" strike="noStrike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0" lvl="0" marL="0" marR="0" rtl="0" algn="l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29" u="none" cap="none" strike="noStrike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A virtual assistant provides users with guidance, feedback, and regular notifications to encourage consistent involvement and dedication over time.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FFE"/>
        </a:solid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2" name="Google Shape;152;p17"/>
          <p:cNvGrpSpPr/>
          <p:nvPr/>
        </p:nvGrpSpPr>
        <p:grpSpPr>
          <a:xfrm>
            <a:off x="9128624" y="919162"/>
            <a:ext cx="8121151" cy="5619404"/>
            <a:chOff x="0" y="-38100"/>
            <a:chExt cx="2406267" cy="1665008"/>
          </a:xfrm>
        </p:grpSpPr>
        <p:sp>
          <p:nvSpPr>
            <p:cNvPr id="153" name="Google Shape;153;p17"/>
            <p:cNvSpPr/>
            <p:nvPr/>
          </p:nvSpPr>
          <p:spPr>
            <a:xfrm>
              <a:off x="0" y="0"/>
              <a:ext cx="2406267" cy="1626908"/>
            </a:xfrm>
            <a:custGeom>
              <a:rect b="b" l="l" r="r" t="t"/>
              <a:pathLst>
                <a:path extrusionOk="0" h="1626908" w="2406267">
                  <a:moveTo>
                    <a:pt x="0" y="0"/>
                  </a:moveTo>
                  <a:lnTo>
                    <a:pt x="2406267" y="0"/>
                  </a:lnTo>
                  <a:lnTo>
                    <a:pt x="2406267" y="1626908"/>
                  </a:lnTo>
                  <a:lnTo>
                    <a:pt x="0" y="1626908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cap="sq" cmpd="sng" w="19050">
              <a:solidFill>
                <a:srgbClr val="000B3D"/>
              </a:solidFill>
              <a:prstDash val="solid"/>
              <a:miter lim="8000"/>
              <a:headEnd len="sm" w="sm" type="none"/>
              <a:tailEnd len="sm" w="sm" type="none"/>
            </a:ln>
          </p:spPr>
        </p:sp>
        <p:sp>
          <p:nvSpPr>
            <p:cNvPr id="154" name="Google Shape;154;p17"/>
            <p:cNvSpPr txBox="1"/>
            <p:nvPr/>
          </p:nvSpPr>
          <p:spPr>
            <a:xfrm>
              <a:off x="0" y="-38100"/>
              <a:ext cx="2406267" cy="166500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2150" lIns="42150" spcFirstLastPara="1" rIns="42150" wrap="square" tIns="4215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155" name="Google Shape;155;p17"/>
          <p:cNvCxnSpPr/>
          <p:nvPr/>
        </p:nvCxnSpPr>
        <p:spPr>
          <a:xfrm>
            <a:off x="1047750" y="1047750"/>
            <a:ext cx="0" cy="8168523"/>
          </a:xfrm>
          <a:prstGeom prst="straightConnector1">
            <a:avLst/>
          </a:prstGeom>
          <a:noFill/>
          <a:ln cap="flat" cmpd="sng" w="19050">
            <a:solidFill>
              <a:srgbClr val="000B3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6" name="Google Shape;156;p17"/>
          <p:cNvCxnSpPr/>
          <p:nvPr/>
        </p:nvCxnSpPr>
        <p:spPr>
          <a:xfrm rot="10800000">
            <a:off x="1043425" y="1057275"/>
            <a:ext cx="16201149" cy="0"/>
          </a:xfrm>
          <a:prstGeom prst="straightConnector1">
            <a:avLst/>
          </a:prstGeom>
          <a:noFill/>
          <a:ln cap="flat" cmpd="sng" w="19050">
            <a:solidFill>
              <a:srgbClr val="000B3D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57" name="Google Shape;157;p17"/>
          <p:cNvGrpSpPr/>
          <p:nvPr/>
        </p:nvGrpSpPr>
        <p:grpSpPr>
          <a:xfrm>
            <a:off x="1047750" y="6386513"/>
            <a:ext cx="2719788" cy="2871788"/>
            <a:chOff x="0" y="-38100"/>
            <a:chExt cx="805863" cy="850900"/>
          </a:xfrm>
        </p:grpSpPr>
        <p:sp>
          <p:nvSpPr>
            <p:cNvPr id="158" name="Google Shape;158;p17"/>
            <p:cNvSpPr/>
            <p:nvPr/>
          </p:nvSpPr>
          <p:spPr>
            <a:xfrm>
              <a:off x="0" y="0"/>
              <a:ext cx="805863" cy="812800"/>
            </a:xfrm>
            <a:custGeom>
              <a:rect b="b" l="l" r="r" t="t"/>
              <a:pathLst>
                <a:path extrusionOk="0" h="812800" w="805863">
                  <a:moveTo>
                    <a:pt x="0" y="0"/>
                  </a:moveTo>
                  <a:lnTo>
                    <a:pt x="805863" y="0"/>
                  </a:lnTo>
                  <a:lnTo>
                    <a:pt x="805863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cap="sq" cmpd="sng" w="19050">
              <a:solidFill>
                <a:srgbClr val="000B3D"/>
              </a:solidFill>
              <a:prstDash val="solid"/>
              <a:miter lim="8000"/>
              <a:headEnd len="sm" w="sm" type="none"/>
              <a:tailEnd len="sm" w="sm" type="none"/>
            </a:ln>
          </p:spPr>
        </p:sp>
        <p:sp>
          <p:nvSpPr>
            <p:cNvPr id="159" name="Google Shape;159;p17"/>
            <p:cNvSpPr txBox="1"/>
            <p:nvPr/>
          </p:nvSpPr>
          <p:spPr>
            <a:xfrm>
              <a:off x="0" y="-38100"/>
              <a:ext cx="805863" cy="850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2150" lIns="42150" spcFirstLastPara="1" rIns="42150" wrap="square" tIns="4215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60" name="Google Shape;160;p17"/>
          <p:cNvGrpSpPr/>
          <p:nvPr/>
        </p:nvGrpSpPr>
        <p:grpSpPr>
          <a:xfrm>
            <a:off x="3745929" y="6386513"/>
            <a:ext cx="2719788" cy="2871788"/>
            <a:chOff x="0" y="-38100"/>
            <a:chExt cx="805863" cy="850900"/>
          </a:xfrm>
        </p:grpSpPr>
        <p:sp>
          <p:nvSpPr>
            <p:cNvPr id="161" name="Google Shape;161;p17"/>
            <p:cNvSpPr/>
            <p:nvPr/>
          </p:nvSpPr>
          <p:spPr>
            <a:xfrm>
              <a:off x="0" y="0"/>
              <a:ext cx="805863" cy="812800"/>
            </a:xfrm>
            <a:custGeom>
              <a:rect b="b" l="l" r="r" t="t"/>
              <a:pathLst>
                <a:path extrusionOk="0" h="812800" w="805863">
                  <a:moveTo>
                    <a:pt x="0" y="0"/>
                  </a:moveTo>
                  <a:lnTo>
                    <a:pt x="805863" y="0"/>
                  </a:lnTo>
                  <a:lnTo>
                    <a:pt x="805863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cap="sq" cmpd="sng" w="19050">
              <a:solidFill>
                <a:srgbClr val="000B3D"/>
              </a:solidFill>
              <a:prstDash val="solid"/>
              <a:miter lim="8000"/>
              <a:headEnd len="sm" w="sm" type="none"/>
              <a:tailEnd len="sm" w="sm" type="none"/>
            </a:ln>
          </p:spPr>
        </p:sp>
        <p:sp>
          <p:nvSpPr>
            <p:cNvPr id="162" name="Google Shape;162;p17"/>
            <p:cNvSpPr txBox="1"/>
            <p:nvPr/>
          </p:nvSpPr>
          <p:spPr>
            <a:xfrm>
              <a:off x="0" y="-38100"/>
              <a:ext cx="805863" cy="850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2150" lIns="42150" spcFirstLastPara="1" rIns="42150" wrap="square" tIns="4215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63" name="Google Shape;163;p17"/>
          <p:cNvGrpSpPr/>
          <p:nvPr/>
        </p:nvGrpSpPr>
        <p:grpSpPr>
          <a:xfrm>
            <a:off x="6438967" y="6386513"/>
            <a:ext cx="2719788" cy="2871788"/>
            <a:chOff x="0" y="-38100"/>
            <a:chExt cx="805863" cy="850900"/>
          </a:xfrm>
        </p:grpSpPr>
        <p:sp>
          <p:nvSpPr>
            <p:cNvPr id="164" name="Google Shape;164;p17"/>
            <p:cNvSpPr/>
            <p:nvPr/>
          </p:nvSpPr>
          <p:spPr>
            <a:xfrm>
              <a:off x="0" y="0"/>
              <a:ext cx="805863" cy="812800"/>
            </a:xfrm>
            <a:custGeom>
              <a:rect b="b" l="l" r="r" t="t"/>
              <a:pathLst>
                <a:path extrusionOk="0" h="812800" w="805863">
                  <a:moveTo>
                    <a:pt x="0" y="0"/>
                  </a:moveTo>
                  <a:lnTo>
                    <a:pt x="805863" y="0"/>
                  </a:lnTo>
                  <a:lnTo>
                    <a:pt x="805863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cap="sq" cmpd="sng" w="19050">
              <a:solidFill>
                <a:srgbClr val="000B3D"/>
              </a:solidFill>
              <a:prstDash val="solid"/>
              <a:miter lim="8000"/>
              <a:headEnd len="sm" w="sm" type="none"/>
              <a:tailEnd len="sm" w="sm" type="none"/>
            </a:ln>
          </p:spPr>
        </p:sp>
        <p:sp>
          <p:nvSpPr>
            <p:cNvPr id="165" name="Google Shape;165;p17"/>
            <p:cNvSpPr txBox="1"/>
            <p:nvPr/>
          </p:nvSpPr>
          <p:spPr>
            <a:xfrm>
              <a:off x="0" y="-38100"/>
              <a:ext cx="805863" cy="850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2150" lIns="42150" spcFirstLastPara="1" rIns="42150" wrap="square" tIns="4215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66" name="Google Shape;166;p17"/>
          <p:cNvGrpSpPr/>
          <p:nvPr/>
        </p:nvGrpSpPr>
        <p:grpSpPr>
          <a:xfrm>
            <a:off x="9128624" y="6386513"/>
            <a:ext cx="2719788" cy="2871788"/>
            <a:chOff x="0" y="-38100"/>
            <a:chExt cx="805863" cy="850900"/>
          </a:xfrm>
        </p:grpSpPr>
        <p:sp>
          <p:nvSpPr>
            <p:cNvPr id="167" name="Google Shape;167;p17"/>
            <p:cNvSpPr/>
            <p:nvPr/>
          </p:nvSpPr>
          <p:spPr>
            <a:xfrm>
              <a:off x="0" y="0"/>
              <a:ext cx="805863" cy="812800"/>
            </a:xfrm>
            <a:custGeom>
              <a:rect b="b" l="l" r="r" t="t"/>
              <a:pathLst>
                <a:path extrusionOk="0" h="812800" w="805863">
                  <a:moveTo>
                    <a:pt x="0" y="0"/>
                  </a:moveTo>
                  <a:lnTo>
                    <a:pt x="805863" y="0"/>
                  </a:lnTo>
                  <a:lnTo>
                    <a:pt x="805863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cap="sq" cmpd="sng" w="19050">
              <a:solidFill>
                <a:srgbClr val="000B3D"/>
              </a:solidFill>
              <a:prstDash val="solid"/>
              <a:miter lim="8000"/>
              <a:headEnd len="sm" w="sm" type="none"/>
              <a:tailEnd len="sm" w="sm" type="none"/>
            </a:ln>
          </p:spPr>
        </p:sp>
        <p:sp>
          <p:nvSpPr>
            <p:cNvPr id="168" name="Google Shape;168;p17"/>
            <p:cNvSpPr txBox="1"/>
            <p:nvPr/>
          </p:nvSpPr>
          <p:spPr>
            <a:xfrm>
              <a:off x="0" y="-38100"/>
              <a:ext cx="805863" cy="850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2150" lIns="42150" spcFirstLastPara="1" rIns="42150" wrap="square" tIns="4215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69" name="Google Shape;169;p17"/>
          <p:cNvGrpSpPr/>
          <p:nvPr/>
        </p:nvGrpSpPr>
        <p:grpSpPr>
          <a:xfrm>
            <a:off x="11829305" y="6386513"/>
            <a:ext cx="2719788" cy="2871788"/>
            <a:chOff x="0" y="-38100"/>
            <a:chExt cx="805863" cy="850900"/>
          </a:xfrm>
        </p:grpSpPr>
        <p:sp>
          <p:nvSpPr>
            <p:cNvPr id="170" name="Google Shape;170;p17"/>
            <p:cNvSpPr/>
            <p:nvPr/>
          </p:nvSpPr>
          <p:spPr>
            <a:xfrm>
              <a:off x="0" y="0"/>
              <a:ext cx="805863" cy="812800"/>
            </a:xfrm>
            <a:custGeom>
              <a:rect b="b" l="l" r="r" t="t"/>
              <a:pathLst>
                <a:path extrusionOk="0" h="812800" w="805863">
                  <a:moveTo>
                    <a:pt x="0" y="0"/>
                  </a:moveTo>
                  <a:lnTo>
                    <a:pt x="805863" y="0"/>
                  </a:lnTo>
                  <a:lnTo>
                    <a:pt x="805863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cap="sq" cmpd="sng" w="19050">
              <a:solidFill>
                <a:srgbClr val="000B3D"/>
              </a:solidFill>
              <a:prstDash val="solid"/>
              <a:miter lim="8000"/>
              <a:headEnd len="sm" w="sm" type="none"/>
              <a:tailEnd len="sm" w="sm" type="none"/>
            </a:ln>
          </p:spPr>
        </p:sp>
        <p:sp>
          <p:nvSpPr>
            <p:cNvPr id="171" name="Google Shape;171;p17"/>
            <p:cNvSpPr txBox="1"/>
            <p:nvPr/>
          </p:nvSpPr>
          <p:spPr>
            <a:xfrm>
              <a:off x="0" y="-38100"/>
              <a:ext cx="805863" cy="850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2150" lIns="42150" spcFirstLastPara="1" rIns="42150" wrap="square" tIns="4215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2" name="Google Shape;172;p17"/>
          <p:cNvGrpSpPr/>
          <p:nvPr/>
        </p:nvGrpSpPr>
        <p:grpSpPr>
          <a:xfrm>
            <a:off x="14529987" y="6386513"/>
            <a:ext cx="2719788" cy="2871788"/>
            <a:chOff x="0" y="-38100"/>
            <a:chExt cx="805863" cy="850900"/>
          </a:xfrm>
        </p:grpSpPr>
        <p:sp>
          <p:nvSpPr>
            <p:cNvPr id="173" name="Google Shape;173;p17"/>
            <p:cNvSpPr/>
            <p:nvPr/>
          </p:nvSpPr>
          <p:spPr>
            <a:xfrm>
              <a:off x="0" y="0"/>
              <a:ext cx="805863" cy="812800"/>
            </a:xfrm>
            <a:custGeom>
              <a:rect b="b" l="l" r="r" t="t"/>
              <a:pathLst>
                <a:path extrusionOk="0" h="812800" w="805863">
                  <a:moveTo>
                    <a:pt x="0" y="0"/>
                  </a:moveTo>
                  <a:lnTo>
                    <a:pt x="805863" y="0"/>
                  </a:lnTo>
                  <a:lnTo>
                    <a:pt x="805863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cap="sq" cmpd="sng" w="19050">
              <a:solidFill>
                <a:srgbClr val="000B3D"/>
              </a:solidFill>
              <a:prstDash val="solid"/>
              <a:miter lim="8000"/>
              <a:headEnd len="sm" w="sm" type="none"/>
              <a:tailEnd len="sm" w="sm" type="none"/>
            </a:ln>
          </p:spPr>
        </p:sp>
        <p:sp>
          <p:nvSpPr>
            <p:cNvPr id="174" name="Google Shape;174;p17"/>
            <p:cNvSpPr txBox="1"/>
            <p:nvPr/>
          </p:nvSpPr>
          <p:spPr>
            <a:xfrm>
              <a:off x="0" y="-38100"/>
              <a:ext cx="805863" cy="850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2150" lIns="42150" spcFirstLastPara="1" rIns="42150" wrap="square" tIns="4215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5" name="Google Shape;175;p17"/>
          <p:cNvSpPr/>
          <p:nvPr/>
        </p:nvSpPr>
        <p:spPr>
          <a:xfrm>
            <a:off x="7825612" y="1153259"/>
            <a:ext cx="1222047" cy="1287407"/>
          </a:xfrm>
          <a:custGeom>
            <a:rect b="b" l="l" r="r" t="t"/>
            <a:pathLst>
              <a:path extrusionOk="0" h="1287407" w="1222047">
                <a:moveTo>
                  <a:pt x="0" y="0"/>
                </a:moveTo>
                <a:lnTo>
                  <a:pt x="1222047" y="0"/>
                </a:lnTo>
                <a:lnTo>
                  <a:pt x="1222047" y="1287406"/>
                </a:lnTo>
                <a:lnTo>
                  <a:pt x="0" y="128740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76" name="Google Shape;176;p17"/>
          <p:cNvSpPr txBox="1"/>
          <p:nvPr/>
        </p:nvSpPr>
        <p:spPr>
          <a:xfrm>
            <a:off x="1450545" y="2631165"/>
            <a:ext cx="7152463" cy="25100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9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131" u="none" cap="none" strike="noStrike">
                <a:solidFill>
                  <a:srgbClr val="000B3D"/>
                </a:solidFill>
                <a:latin typeface="Public Sans Black"/>
                <a:ea typeface="Public Sans Black"/>
                <a:cs typeface="Public Sans Black"/>
                <a:sym typeface="Public Sans Black"/>
              </a:rPr>
              <a:t>SO WHAT IS COGNITIVE FUNCTION</a:t>
            </a:r>
            <a:endParaRPr/>
          </a:p>
        </p:txBody>
      </p:sp>
      <p:sp>
        <p:nvSpPr>
          <p:cNvPr id="177" name="Google Shape;177;p17"/>
          <p:cNvSpPr txBox="1"/>
          <p:nvPr/>
        </p:nvSpPr>
        <p:spPr>
          <a:xfrm>
            <a:off x="9483761" y="1450643"/>
            <a:ext cx="7302872" cy="42816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29" u="none" cap="none" strike="noStrike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The mental processes that allow individuals to acquire knowledge, process information, think, and solve issues are commonly referred to as cognitive function. </a:t>
            </a:r>
            <a:endParaRPr/>
          </a:p>
          <a:p>
            <a:pPr indent="0" lvl="0" marL="0" marR="0" rtl="0" algn="l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29" u="none" cap="none" strike="noStrike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0" lvl="0" marL="0" marR="0" rtl="0" algn="l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29" u="none" cap="none" strike="noStrike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Regular exercise, adequate sleep, a nutritious diet, mental exercises mindfulness and meditation are all strategies to improve your brain's cognitive skills. We at Squares focus directly on the Mental Exercises aspect. </a:t>
            </a:r>
            <a:endParaRPr/>
          </a:p>
        </p:txBody>
      </p:sp>
      <p:sp>
        <p:nvSpPr>
          <p:cNvPr id="178" name="Google Shape;178;p17"/>
          <p:cNvSpPr txBox="1"/>
          <p:nvPr/>
        </p:nvSpPr>
        <p:spPr>
          <a:xfrm>
            <a:off x="4265253" y="7615237"/>
            <a:ext cx="1523048" cy="4953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999" u="none" cap="none" strike="noStrike">
                <a:solidFill>
                  <a:srgbClr val="000B3D"/>
                </a:solidFill>
                <a:latin typeface="Arial"/>
                <a:ea typeface="Arial"/>
                <a:cs typeface="Arial"/>
                <a:sym typeface="Arial"/>
              </a:rPr>
              <a:t>Memory</a:t>
            </a:r>
            <a:endParaRPr/>
          </a:p>
        </p:txBody>
      </p:sp>
      <p:sp>
        <p:nvSpPr>
          <p:cNvPr id="179" name="Google Shape;179;p17"/>
          <p:cNvSpPr txBox="1"/>
          <p:nvPr/>
        </p:nvSpPr>
        <p:spPr>
          <a:xfrm>
            <a:off x="11848413" y="7615237"/>
            <a:ext cx="2719788" cy="4953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999" u="none" cap="none" strike="noStrike">
                <a:solidFill>
                  <a:srgbClr val="000B3D"/>
                </a:solidFill>
                <a:latin typeface="Arial"/>
                <a:ea typeface="Arial"/>
                <a:cs typeface="Arial"/>
                <a:sym typeface="Arial"/>
              </a:rPr>
              <a:t>Language</a:t>
            </a:r>
            <a:endParaRPr/>
          </a:p>
        </p:txBody>
      </p:sp>
      <p:sp>
        <p:nvSpPr>
          <p:cNvPr id="180" name="Google Shape;180;p17"/>
          <p:cNvSpPr txBox="1"/>
          <p:nvPr/>
        </p:nvSpPr>
        <p:spPr>
          <a:xfrm>
            <a:off x="6465718" y="7615237"/>
            <a:ext cx="2719788" cy="4953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Attention</a:t>
            </a:r>
            <a:endParaRPr/>
          </a:p>
        </p:txBody>
      </p:sp>
      <p:sp>
        <p:nvSpPr>
          <p:cNvPr id="181" name="Google Shape;181;p17"/>
          <p:cNvSpPr txBox="1"/>
          <p:nvPr/>
        </p:nvSpPr>
        <p:spPr>
          <a:xfrm>
            <a:off x="9158755" y="7615237"/>
            <a:ext cx="2719788" cy="4953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Perception</a:t>
            </a:r>
            <a:endParaRPr/>
          </a:p>
        </p:txBody>
      </p:sp>
      <p:sp>
        <p:nvSpPr>
          <p:cNvPr id="182" name="Google Shape;182;p17"/>
          <p:cNvSpPr txBox="1"/>
          <p:nvPr/>
        </p:nvSpPr>
        <p:spPr>
          <a:xfrm>
            <a:off x="1047750" y="7615237"/>
            <a:ext cx="2719788" cy="4953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Reasoning</a:t>
            </a:r>
            <a:endParaRPr/>
          </a:p>
        </p:txBody>
      </p:sp>
      <p:sp>
        <p:nvSpPr>
          <p:cNvPr id="183" name="Google Shape;183;p17"/>
          <p:cNvSpPr txBox="1"/>
          <p:nvPr/>
        </p:nvSpPr>
        <p:spPr>
          <a:xfrm>
            <a:off x="14524786" y="7615237"/>
            <a:ext cx="2719788" cy="4953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9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Learning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FFE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8" name="Google Shape;188;p18"/>
          <p:cNvGrpSpPr/>
          <p:nvPr/>
        </p:nvGrpSpPr>
        <p:grpSpPr>
          <a:xfrm>
            <a:off x="12565065" y="890587"/>
            <a:ext cx="4705665" cy="8381048"/>
            <a:chOff x="0" y="-38100"/>
            <a:chExt cx="1394271" cy="2483273"/>
          </a:xfrm>
        </p:grpSpPr>
        <p:sp>
          <p:nvSpPr>
            <p:cNvPr id="189" name="Google Shape;189;p18"/>
            <p:cNvSpPr/>
            <p:nvPr/>
          </p:nvSpPr>
          <p:spPr>
            <a:xfrm>
              <a:off x="0" y="0"/>
              <a:ext cx="1394271" cy="2445173"/>
            </a:xfrm>
            <a:custGeom>
              <a:rect b="b" l="l" r="r" t="t"/>
              <a:pathLst>
                <a:path extrusionOk="0" h="2445173" w="1394271">
                  <a:moveTo>
                    <a:pt x="0" y="0"/>
                  </a:moveTo>
                  <a:lnTo>
                    <a:pt x="1394271" y="0"/>
                  </a:lnTo>
                  <a:lnTo>
                    <a:pt x="1394271" y="2445173"/>
                  </a:lnTo>
                  <a:lnTo>
                    <a:pt x="0" y="244517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cap="sq" cmpd="sng" w="19050">
              <a:solidFill>
                <a:srgbClr val="000B3D"/>
              </a:solidFill>
              <a:prstDash val="solid"/>
              <a:miter lim="8000"/>
              <a:headEnd len="sm" w="sm" type="none"/>
              <a:tailEnd len="sm" w="sm" type="none"/>
            </a:ln>
          </p:spPr>
        </p:sp>
        <p:sp>
          <p:nvSpPr>
            <p:cNvPr id="190" name="Google Shape;190;p18"/>
            <p:cNvSpPr txBox="1"/>
            <p:nvPr/>
          </p:nvSpPr>
          <p:spPr>
            <a:xfrm>
              <a:off x="0" y="-38100"/>
              <a:ext cx="1394271" cy="248327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2150" lIns="42150" spcFirstLastPara="1" rIns="42150" wrap="square" tIns="4215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91" name="Google Shape;191;p18"/>
          <p:cNvSpPr txBox="1"/>
          <p:nvPr/>
        </p:nvSpPr>
        <p:spPr>
          <a:xfrm>
            <a:off x="1709065" y="4488469"/>
            <a:ext cx="9911239" cy="385305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262318" lvl="1" marL="524637" marR="0" rtl="0" algn="l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Clr>
                <a:srgbClr val="000B3D"/>
              </a:buClr>
              <a:buSzPts val="2429"/>
              <a:buFont typeface="Arial"/>
              <a:buChar char="•"/>
            </a:pPr>
            <a:r>
              <a:rPr b="0" i="0" lang="en-US" sz="2429" u="none" cap="none" strike="noStrike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Assess performance, speed, correctness, etc.</a:t>
            </a:r>
            <a:endParaRPr/>
          </a:p>
          <a:p>
            <a:pPr indent="0" lvl="0" marL="0" marR="0" rtl="0" algn="l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29" u="none" cap="none" strike="noStrike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-262318" lvl="1" marL="524637" marR="0" rtl="0" algn="l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Clr>
                <a:srgbClr val="000B3D"/>
              </a:buClr>
              <a:buSzPts val="2429"/>
              <a:buFont typeface="Arial"/>
              <a:buChar char="•"/>
            </a:pPr>
            <a:r>
              <a:rPr b="0" i="0" lang="en-US" sz="2429" u="none" cap="none" strike="noStrike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Analyze data and track falls in progression.</a:t>
            </a:r>
            <a:endParaRPr/>
          </a:p>
          <a:p>
            <a:pPr indent="0" lvl="0" marL="0" marR="0" rtl="0" algn="l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29" u="none" cap="none" strike="noStrike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-262318" lvl="1" marL="524637" marR="0" rtl="0" algn="l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Clr>
                <a:srgbClr val="000B3D"/>
              </a:buClr>
              <a:buSzPts val="2429"/>
              <a:buFont typeface="Arial"/>
              <a:buChar char="•"/>
            </a:pPr>
            <a:r>
              <a:rPr b="0" i="0" lang="en-US" sz="2429" u="none" cap="none" strike="noStrike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Adjust puzzle difficulty accordingly &amp; shift focus to weaker pillars.</a:t>
            </a:r>
            <a:endParaRPr/>
          </a:p>
          <a:p>
            <a:pPr indent="0" lvl="0" marL="0" marR="0" rtl="0" algn="l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29" u="none" cap="none" strike="noStrike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-262318" lvl="1" marL="524637" marR="0" rtl="0" algn="l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Clr>
                <a:srgbClr val="000B3D"/>
              </a:buClr>
              <a:buSzPts val="2429"/>
              <a:buFont typeface="Arial"/>
              <a:buChar char="•"/>
            </a:pPr>
            <a:r>
              <a:rPr b="0" i="0" lang="en-US" sz="2429" u="none" cap="none" strike="noStrike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Assist users with feedback.</a:t>
            </a:r>
            <a:endParaRPr/>
          </a:p>
          <a:p>
            <a:pPr indent="0" lvl="0" marL="0" marR="0" rtl="0" algn="l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29" u="none" cap="none" strike="noStrike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cxnSp>
        <p:nvCxnSpPr>
          <p:cNvPr id="192" name="Google Shape;192;p18"/>
          <p:cNvCxnSpPr/>
          <p:nvPr/>
        </p:nvCxnSpPr>
        <p:spPr>
          <a:xfrm>
            <a:off x="1028700" y="1019175"/>
            <a:ext cx="0" cy="8239125"/>
          </a:xfrm>
          <a:prstGeom prst="straightConnector1">
            <a:avLst/>
          </a:prstGeom>
          <a:noFill/>
          <a:ln cap="flat" cmpd="sng" w="19050">
            <a:solidFill>
              <a:srgbClr val="000B3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93" name="Google Shape;193;p18"/>
          <p:cNvCxnSpPr/>
          <p:nvPr/>
        </p:nvCxnSpPr>
        <p:spPr>
          <a:xfrm rot="10800000">
            <a:off x="1028700" y="1028700"/>
            <a:ext cx="16230600" cy="0"/>
          </a:xfrm>
          <a:prstGeom prst="straightConnector1">
            <a:avLst/>
          </a:prstGeom>
          <a:noFill/>
          <a:ln cap="flat" cmpd="sng" w="19050">
            <a:solidFill>
              <a:srgbClr val="000B3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94" name="Google Shape;194;p18"/>
          <p:cNvCxnSpPr/>
          <p:nvPr/>
        </p:nvCxnSpPr>
        <p:spPr>
          <a:xfrm rot="10800000">
            <a:off x="1062038" y="9258300"/>
            <a:ext cx="16163925" cy="0"/>
          </a:xfrm>
          <a:prstGeom prst="straightConnector1">
            <a:avLst/>
          </a:prstGeom>
          <a:noFill/>
          <a:ln cap="flat" cmpd="sng" w="19050">
            <a:solidFill>
              <a:srgbClr val="000B3D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195" name="Google Shape;195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168255" y="305313"/>
            <a:ext cx="5347761" cy="8680646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18"/>
          <p:cNvSpPr/>
          <p:nvPr/>
        </p:nvSpPr>
        <p:spPr>
          <a:xfrm>
            <a:off x="11165291" y="7697819"/>
            <a:ext cx="1222047" cy="1287407"/>
          </a:xfrm>
          <a:custGeom>
            <a:rect b="b" l="l" r="r" t="t"/>
            <a:pathLst>
              <a:path extrusionOk="0" h="1287407" w="1222047">
                <a:moveTo>
                  <a:pt x="0" y="0"/>
                </a:moveTo>
                <a:lnTo>
                  <a:pt x="1222047" y="0"/>
                </a:lnTo>
                <a:lnTo>
                  <a:pt x="1222047" y="1287406"/>
                </a:lnTo>
                <a:lnTo>
                  <a:pt x="0" y="128740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97" name="Google Shape;197;p18"/>
          <p:cNvSpPr txBox="1"/>
          <p:nvPr/>
        </p:nvSpPr>
        <p:spPr>
          <a:xfrm>
            <a:off x="1865075" y="1278850"/>
            <a:ext cx="9911400" cy="1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9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500" u="none" cap="none" strike="noStrike">
                <a:solidFill>
                  <a:srgbClr val="000B3D"/>
                </a:solidFill>
                <a:latin typeface="Public Sans Black"/>
                <a:ea typeface="Public Sans Black"/>
                <a:cs typeface="Public Sans Black"/>
                <a:sym typeface="Public Sans Black"/>
              </a:rPr>
              <a:t>HOW WE TRACK DATA &amp; ASSISTS GROWTH</a:t>
            </a:r>
            <a:endParaRPr sz="6500"/>
          </a:p>
        </p:txBody>
      </p:sp>
      <p:sp>
        <p:nvSpPr>
          <p:cNvPr id="198" name="Google Shape;198;p18"/>
          <p:cNvSpPr txBox="1"/>
          <p:nvPr/>
        </p:nvSpPr>
        <p:spPr>
          <a:xfrm>
            <a:off x="3384688" y="3329600"/>
            <a:ext cx="68244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2599" u="none" cap="none" strike="noStrike">
                <a:solidFill>
                  <a:srgbClr val="000B3D"/>
                </a:solidFill>
                <a:latin typeface="Arial"/>
                <a:ea typeface="Arial"/>
                <a:cs typeface="Arial"/>
                <a:sym typeface="Arial"/>
              </a:rPr>
              <a:t>Assess, Analyze, Adjust, Assist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FFE"/>
        </a:solidFill>
      </p:bgPr>
    </p:bg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9"/>
          <p:cNvSpPr txBox="1"/>
          <p:nvPr/>
        </p:nvSpPr>
        <p:spPr>
          <a:xfrm>
            <a:off x="1241030" y="1547933"/>
            <a:ext cx="9911239" cy="17004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89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131" u="none" cap="none" strike="noStrike">
                <a:solidFill>
                  <a:srgbClr val="000B3D"/>
                </a:solidFill>
                <a:latin typeface="Public Sans Black"/>
                <a:ea typeface="Public Sans Black"/>
                <a:cs typeface="Public Sans Black"/>
                <a:sym typeface="Public Sans Black"/>
              </a:rPr>
              <a:t>FIRST ITERATION PLAN</a:t>
            </a:r>
            <a:endParaRPr/>
          </a:p>
        </p:txBody>
      </p:sp>
      <p:sp>
        <p:nvSpPr>
          <p:cNvPr id="204" name="Google Shape;204;p19"/>
          <p:cNvSpPr txBox="1"/>
          <p:nvPr/>
        </p:nvSpPr>
        <p:spPr>
          <a:xfrm>
            <a:off x="7048120" y="3515077"/>
            <a:ext cx="9911239" cy="556755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29" u="none" cap="none" strike="noStrike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Construct and link up a simple set of puzzles using the PuzzleMe site &amp; API.</a:t>
            </a:r>
            <a:endParaRPr/>
          </a:p>
          <a:p>
            <a:pPr indent="0" lvl="0" marL="0" marR="0" rtl="0" algn="r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29" u="none" cap="none" strike="noStrike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0" lvl="0" marL="0" marR="0" rtl="0" algn="r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29" u="none" cap="none" strike="noStrike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Record simple data, like completion times or average time spent on certain sections.</a:t>
            </a:r>
            <a:endParaRPr/>
          </a:p>
          <a:p>
            <a:pPr indent="0" lvl="0" marL="0" marR="0" rtl="0" algn="r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29" u="none" cap="none" strike="noStrike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0" lvl="0" marL="0" marR="0" rtl="0" algn="r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29" u="none" cap="none" strike="noStrike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Test out adaptive difficulty, value tracking.</a:t>
            </a:r>
            <a:endParaRPr/>
          </a:p>
          <a:p>
            <a:pPr indent="0" lvl="0" marL="0" marR="0" rtl="0" algn="r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29" u="none" cap="none" strike="noStrike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0" lvl="0" marL="0" marR="0" rtl="0" algn="r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29" u="none" cap="none" strike="noStrike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Simplistic UI, basic functionality, don’t focus too heavy on looks.</a:t>
            </a:r>
            <a:endParaRPr/>
          </a:p>
          <a:p>
            <a:pPr indent="0" lvl="0" marL="0" marR="0" rtl="0" algn="r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29" u="none" cap="none" strike="noStrike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0" lvl="0" marL="0" marR="0" rtl="0" algn="r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29" u="none" cap="none" strike="noStrike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Set up database for storing simple test data.</a:t>
            </a:r>
            <a:endParaRPr/>
          </a:p>
          <a:p>
            <a:pPr indent="0" lvl="0" marL="0" marR="0" rtl="0" algn="r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29" u="none" cap="none" strike="noStrike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0" lvl="0" marL="0" marR="0" rtl="0" algn="r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29" u="none" cap="none" strike="noStrike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cxnSp>
        <p:nvCxnSpPr>
          <p:cNvPr id="205" name="Google Shape;205;p19"/>
          <p:cNvCxnSpPr/>
          <p:nvPr/>
        </p:nvCxnSpPr>
        <p:spPr>
          <a:xfrm>
            <a:off x="1028700" y="1019175"/>
            <a:ext cx="0" cy="8239125"/>
          </a:xfrm>
          <a:prstGeom prst="straightConnector1">
            <a:avLst/>
          </a:prstGeom>
          <a:noFill/>
          <a:ln cap="flat" cmpd="sng" w="19050">
            <a:solidFill>
              <a:srgbClr val="000B3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06" name="Google Shape;206;p19"/>
          <p:cNvCxnSpPr/>
          <p:nvPr/>
        </p:nvCxnSpPr>
        <p:spPr>
          <a:xfrm rot="10800000">
            <a:off x="1028700" y="1028700"/>
            <a:ext cx="16268700" cy="0"/>
          </a:xfrm>
          <a:prstGeom prst="straightConnector1">
            <a:avLst/>
          </a:prstGeom>
          <a:noFill/>
          <a:ln cap="flat" cmpd="sng" w="19050">
            <a:solidFill>
              <a:srgbClr val="000B3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07" name="Google Shape;207;p19"/>
          <p:cNvCxnSpPr/>
          <p:nvPr/>
        </p:nvCxnSpPr>
        <p:spPr>
          <a:xfrm rot="10800000">
            <a:off x="1062038" y="9258300"/>
            <a:ext cx="16235362" cy="0"/>
          </a:xfrm>
          <a:prstGeom prst="straightConnector1">
            <a:avLst/>
          </a:prstGeom>
          <a:noFill/>
          <a:ln cap="flat" cmpd="sng" w="19050">
            <a:solidFill>
              <a:srgbClr val="000B3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08" name="Google Shape;208;p19"/>
          <p:cNvCxnSpPr/>
          <p:nvPr/>
        </p:nvCxnSpPr>
        <p:spPr>
          <a:xfrm>
            <a:off x="17297400" y="1019175"/>
            <a:ext cx="0" cy="8239125"/>
          </a:xfrm>
          <a:prstGeom prst="straightConnector1">
            <a:avLst/>
          </a:prstGeom>
          <a:noFill/>
          <a:ln cap="flat" cmpd="sng" w="19050">
            <a:solidFill>
              <a:srgbClr val="000B3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9" name="Google Shape;209;p19"/>
          <p:cNvSpPr/>
          <p:nvPr/>
        </p:nvSpPr>
        <p:spPr>
          <a:xfrm>
            <a:off x="1241030" y="7559142"/>
            <a:ext cx="1222047" cy="1287407"/>
          </a:xfrm>
          <a:custGeom>
            <a:rect b="b" l="l" r="r" t="t"/>
            <a:pathLst>
              <a:path extrusionOk="0" h="1287407" w="1222047">
                <a:moveTo>
                  <a:pt x="0" y="0"/>
                </a:moveTo>
                <a:lnTo>
                  <a:pt x="1222047" y="0"/>
                </a:lnTo>
                <a:lnTo>
                  <a:pt x="1222047" y="1287407"/>
                </a:lnTo>
                <a:lnTo>
                  <a:pt x="0" y="128740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FFE"/>
        </a:solidFill>
      </p:bgPr>
    </p:bg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0"/>
          <p:cNvSpPr/>
          <p:nvPr/>
        </p:nvSpPr>
        <p:spPr>
          <a:xfrm>
            <a:off x="8532977" y="5050734"/>
            <a:ext cx="1222047" cy="1287407"/>
          </a:xfrm>
          <a:custGeom>
            <a:rect b="b" l="l" r="r" t="t"/>
            <a:pathLst>
              <a:path extrusionOk="0" h="1287407" w="1222047">
                <a:moveTo>
                  <a:pt x="0" y="0"/>
                </a:moveTo>
                <a:lnTo>
                  <a:pt x="1222046" y="0"/>
                </a:lnTo>
                <a:lnTo>
                  <a:pt x="1222046" y="1287407"/>
                </a:lnTo>
                <a:lnTo>
                  <a:pt x="0" y="128740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15" name="Google Shape;215;p20"/>
          <p:cNvSpPr txBox="1"/>
          <p:nvPr/>
        </p:nvSpPr>
        <p:spPr>
          <a:xfrm>
            <a:off x="4801975" y="3126225"/>
            <a:ext cx="9403200" cy="192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891" u="none" cap="none" strike="noStrike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SQUARES</a:t>
            </a:r>
            <a:endParaRPr/>
          </a:p>
        </p:txBody>
      </p:sp>
      <p:sp>
        <p:nvSpPr>
          <p:cNvPr id="216" name="Google Shape;216;p20"/>
          <p:cNvSpPr txBox="1"/>
          <p:nvPr/>
        </p:nvSpPr>
        <p:spPr>
          <a:xfrm>
            <a:off x="1610936" y="6651761"/>
            <a:ext cx="14901000" cy="9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099" u="none" cap="none" strike="noStrike">
                <a:solidFill>
                  <a:srgbClr val="57C1D9"/>
                </a:solidFill>
                <a:latin typeface="Arial"/>
                <a:ea typeface="Arial"/>
                <a:cs typeface="Arial"/>
                <a:sym typeface="Arial"/>
              </a:rPr>
              <a:t>Structured support for cognitive health.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
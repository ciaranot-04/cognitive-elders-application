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ublic Sans" panose="020B0604020202020204" charset="0"/>
      <p:regular r:id="rId11"/>
      <p:bold r:id="rId12"/>
      <p:italic r:id="rId13"/>
      <p:boldItalic r:id="rId14"/>
    </p:embeddedFont>
    <p:embeddedFont>
      <p:font typeface="Public Sans Black" panose="020B0604020202020204" charset="0"/>
      <p:bold r:id="rId15"/>
      <p:boldItalic r:id="rId16"/>
    </p:embeddedFont>
    <p:embeddedFont>
      <p:font typeface="Sansita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2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0598305" y="187797"/>
            <a:ext cx="7250371" cy="7638149"/>
          </a:xfrm>
          <a:custGeom>
            <a:avLst/>
            <a:gdLst/>
            <a:ahLst/>
            <a:cxnLst/>
            <a:rect l="l" t="t" r="r" b="b"/>
            <a:pathLst>
              <a:path w="7250371" h="7638149" extrusionOk="0">
                <a:moveTo>
                  <a:pt x="0" y="0"/>
                </a:moveTo>
                <a:lnTo>
                  <a:pt x="7250371" y="0"/>
                </a:lnTo>
                <a:lnTo>
                  <a:pt x="7250371" y="7638149"/>
                </a:lnTo>
                <a:lnTo>
                  <a:pt x="0" y="763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85" name="Google Shape;85;p13"/>
          <p:cNvSpPr txBox="1"/>
          <p:nvPr/>
        </p:nvSpPr>
        <p:spPr>
          <a:xfrm>
            <a:off x="807750" y="6476800"/>
            <a:ext cx="9549600" cy="1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91" b="1" i="0" u="sng" strike="noStrike" cap="none">
                <a:solidFill>
                  <a:srgbClr val="000000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SQUARES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535533" y="8052832"/>
            <a:ext cx="7723767" cy="152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2042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CIARAN O’ TOOLE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2042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C00297672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2042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03/02/2026</a:t>
            </a:r>
            <a:endParaRPr/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82042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YEAR 3 PROJECT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 rot="10800000" flipH="1">
            <a:off x="-782912" y="-160887"/>
            <a:ext cx="3181332" cy="2860209"/>
          </a:xfrm>
          <a:prstGeom prst="straightConnector1">
            <a:avLst/>
          </a:prstGeom>
          <a:noFill/>
          <a:ln w="2857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13"/>
          <p:cNvCxnSpPr/>
          <p:nvPr/>
        </p:nvCxnSpPr>
        <p:spPr>
          <a:xfrm rot="10800000" flipH="1">
            <a:off x="-301155" y="-301668"/>
            <a:ext cx="3666701" cy="3484254"/>
          </a:xfrm>
          <a:prstGeom prst="straightConnector1">
            <a:avLst/>
          </a:prstGeom>
          <a:noFill/>
          <a:ln w="3619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13"/>
          <p:cNvSpPr txBox="1"/>
          <p:nvPr/>
        </p:nvSpPr>
        <p:spPr>
          <a:xfrm>
            <a:off x="2291375" y="8401294"/>
            <a:ext cx="588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1" u="none" strike="noStrike" cap="none">
                <a:solidFill>
                  <a:srgbClr val="000B3D"/>
                </a:solidFill>
                <a:latin typeface="Sansita"/>
                <a:ea typeface="Sansita"/>
                <a:cs typeface="Sansita"/>
                <a:sym typeface="Sansita"/>
              </a:rPr>
              <a:t>Structured support for cognitive health.</a:t>
            </a:r>
            <a:endParaRPr/>
          </a:p>
        </p:txBody>
      </p:sp>
      <p:pic>
        <p:nvPicPr>
          <p:cNvPr id="1026" name="Picture 2" descr="SETU logo (002) - Waterford City &amp; County Library Service">
            <a:extLst>
              <a:ext uri="{FF2B5EF4-FFF2-40B4-BE49-F238E27FC236}">
                <a16:creationId xmlns:a16="http://schemas.microsoft.com/office/drawing/2014/main" id="{254D7D9C-B2CC-097C-2A55-2465DF6A6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8" y="1440459"/>
            <a:ext cx="8810625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1028700" y="3643313"/>
            <a:ext cx="16221078" cy="5614988"/>
            <a:chOff x="0" y="-38100"/>
            <a:chExt cx="4806245" cy="16637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806245" cy="1625600"/>
            </a:xfrm>
            <a:custGeom>
              <a:avLst/>
              <a:gdLst/>
              <a:ahLst/>
              <a:cxnLst/>
              <a:rect l="l" t="t" r="r" b="b"/>
              <a:pathLst>
                <a:path w="4806245" h="1625600" extrusionOk="0">
                  <a:moveTo>
                    <a:pt x="0" y="0"/>
                  </a:moveTo>
                  <a:lnTo>
                    <a:pt x="4806245" y="0"/>
                  </a:lnTo>
                  <a:lnTo>
                    <a:pt x="4806245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806244" cy="16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" name="Google Shape;97;p14"/>
          <p:cNvCxnSpPr/>
          <p:nvPr/>
        </p:nvCxnSpPr>
        <p:spPr>
          <a:xfrm>
            <a:off x="1028700" y="1038225"/>
            <a:ext cx="16230600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14"/>
          <p:cNvCxnSpPr/>
          <p:nvPr/>
        </p:nvCxnSpPr>
        <p:spPr>
          <a:xfrm>
            <a:off x="1038225" y="1038225"/>
            <a:ext cx="0" cy="2888451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14"/>
          <p:cNvCxnSpPr/>
          <p:nvPr/>
        </p:nvCxnSpPr>
        <p:spPr>
          <a:xfrm>
            <a:off x="17249775" y="1038225"/>
            <a:ext cx="0" cy="5549501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14"/>
          <p:cNvCxnSpPr/>
          <p:nvPr/>
        </p:nvCxnSpPr>
        <p:spPr>
          <a:xfrm rot="10800000">
            <a:off x="11449050" y="9248775"/>
            <a:ext cx="3089076" cy="0"/>
          </a:xfrm>
          <a:prstGeom prst="straightConnector1">
            <a:avLst/>
          </a:prstGeom>
          <a:noFill/>
          <a:ln w="19050" cap="flat" cmpd="sng">
            <a:solidFill>
              <a:srgbClr val="0077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14"/>
          <p:cNvSpPr txBox="1"/>
          <p:nvPr/>
        </p:nvSpPr>
        <p:spPr>
          <a:xfrm>
            <a:off x="1321901" y="4065850"/>
            <a:ext cx="11009100" cy="471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Squares is a mobile application which provides elderly individuals cognitive enhancement structured around everyday tasks. </a:t>
            </a:r>
            <a:endParaRPr dirty="0"/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3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software, which supports independent living and cognitive function, employs a virtual coach to encourage commitment through personalized productivity comments and incentives. </a:t>
            </a:r>
            <a:endParaRPr dirty="0"/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3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Squares </a:t>
            </a:r>
            <a:r>
              <a:rPr lang="en-US" sz="243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emphasizes useful cognitive abilities related to daily activities and is offered to elderly individuals through an intuitive, age-appropriate user interface. </a:t>
            </a:r>
            <a:endParaRPr dirty="0"/>
          </a:p>
        </p:txBody>
      </p:sp>
      <p:sp>
        <p:nvSpPr>
          <p:cNvPr id="102" name="Google Shape;102;p14"/>
          <p:cNvSpPr/>
          <p:nvPr/>
        </p:nvSpPr>
        <p:spPr>
          <a:xfrm>
            <a:off x="13428074" y="4530326"/>
            <a:ext cx="2491324" cy="4114800"/>
          </a:xfrm>
          <a:custGeom>
            <a:avLst/>
            <a:gdLst/>
            <a:ahLst/>
            <a:cxnLst/>
            <a:rect l="l" t="t" r="r" b="b"/>
            <a:pathLst>
              <a:path w="2491324" h="4114800" extrusionOk="0">
                <a:moveTo>
                  <a:pt x="0" y="0"/>
                </a:moveTo>
                <a:lnTo>
                  <a:pt x="2491325" y="0"/>
                </a:lnTo>
                <a:lnTo>
                  <a:pt x="2491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03" name="Google Shape;103;p14"/>
          <p:cNvSpPr/>
          <p:nvPr/>
        </p:nvSpPr>
        <p:spPr>
          <a:xfrm>
            <a:off x="1616472" y="1766122"/>
            <a:ext cx="1222047" cy="1287407"/>
          </a:xfrm>
          <a:custGeom>
            <a:avLst/>
            <a:gdLst/>
            <a:ahLst/>
            <a:cxnLst/>
            <a:rect l="l" t="t" r="r" b="b"/>
            <a:pathLst>
              <a:path w="1222047" h="1287407" extrusionOk="0">
                <a:moveTo>
                  <a:pt x="0" y="0"/>
                </a:moveTo>
                <a:lnTo>
                  <a:pt x="1222047" y="0"/>
                </a:lnTo>
                <a:lnTo>
                  <a:pt x="1222047" y="1287406"/>
                </a:lnTo>
                <a:lnTo>
                  <a:pt x="0" y="1287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04" name="Google Shape;104;p14"/>
          <p:cNvSpPr txBox="1"/>
          <p:nvPr/>
        </p:nvSpPr>
        <p:spPr>
          <a:xfrm>
            <a:off x="7302329" y="2052616"/>
            <a:ext cx="9299752" cy="90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24" b="1" i="0" u="none" strike="noStrike" cap="none">
                <a:solidFill>
                  <a:srgbClr val="000B3D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WHAT IS SQUARES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5"/>
          <p:cNvGrpSpPr/>
          <p:nvPr/>
        </p:nvGrpSpPr>
        <p:grpSpPr>
          <a:xfrm>
            <a:off x="6499947" y="3622550"/>
            <a:ext cx="10759353" cy="5593723"/>
            <a:chOff x="0" y="-38100"/>
            <a:chExt cx="3187956" cy="1657399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3187956" cy="1619299"/>
            </a:xfrm>
            <a:custGeom>
              <a:avLst/>
              <a:gdLst/>
              <a:ahLst/>
              <a:cxnLst/>
              <a:rect l="l" t="t" r="r" b="b"/>
              <a:pathLst>
                <a:path w="3187956" h="1619299" extrusionOk="0">
                  <a:moveTo>
                    <a:pt x="0" y="0"/>
                  </a:moveTo>
                  <a:lnTo>
                    <a:pt x="3187956" y="0"/>
                  </a:lnTo>
                  <a:lnTo>
                    <a:pt x="3187956" y="1619299"/>
                  </a:lnTo>
                  <a:lnTo>
                    <a:pt x="0" y="1619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0" y="-38100"/>
              <a:ext cx="3187956" cy="1657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2" name="Google Shape;112;p15"/>
          <p:cNvCxnSpPr/>
          <p:nvPr/>
        </p:nvCxnSpPr>
        <p:spPr>
          <a:xfrm>
            <a:off x="17249775" y="1028700"/>
            <a:ext cx="0" cy="2881948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15"/>
          <p:cNvCxnSpPr/>
          <p:nvPr/>
        </p:nvCxnSpPr>
        <p:spPr>
          <a:xfrm>
            <a:off x="1038225" y="1038225"/>
            <a:ext cx="0" cy="8178048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15"/>
          <p:cNvCxnSpPr/>
          <p:nvPr/>
        </p:nvCxnSpPr>
        <p:spPr>
          <a:xfrm rot="10800000">
            <a:off x="1028700" y="1038225"/>
            <a:ext cx="16202025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15"/>
          <p:cNvCxnSpPr/>
          <p:nvPr/>
        </p:nvCxnSpPr>
        <p:spPr>
          <a:xfrm rot="10800000">
            <a:off x="1038225" y="9206748"/>
            <a:ext cx="5428925" cy="9525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15"/>
          <p:cNvCxnSpPr/>
          <p:nvPr/>
        </p:nvCxnSpPr>
        <p:spPr>
          <a:xfrm>
            <a:off x="6509472" y="1038225"/>
            <a:ext cx="0" cy="2881948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15"/>
          <p:cNvSpPr/>
          <p:nvPr/>
        </p:nvSpPr>
        <p:spPr>
          <a:xfrm>
            <a:off x="1028700" y="1038225"/>
            <a:ext cx="5471247" cy="2712913"/>
          </a:xfrm>
          <a:custGeom>
            <a:avLst/>
            <a:gdLst/>
            <a:ahLst/>
            <a:cxnLst/>
            <a:rect l="l" t="t" r="r" b="b"/>
            <a:pathLst>
              <a:path w="5471247" h="2712913" extrusionOk="0">
                <a:moveTo>
                  <a:pt x="0" y="0"/>
                </a:moveTo>
                <a:lnTo>
                  <a:pt x="5471247" y="0"/>
                </a:lnTo>
                <a:lnTo>
                  <a:pt x="5471247" y="2712913"/>
                </a:lnTo>
                <a:lnTo>
                  <a:pt x="0" y="2712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516"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18" name="Google Shape;118;p15"/>
          <p:cNvSpPr/>
          <p:nvPr/>
        </p:nvSpPr>
        <p:spPr>
          <a:xfrm>
            <a:off x="1047750" y="3751138"/>
            <a:ext cx="5452197" cy="2732568"/>
          </a:xfrm>
          <a:custGeom>
            <a:avLst/>
            <a:gdLst/>
            <a:ahLst/>
            <a:cxnLst/>
            <a:rect l="l" t="t" r="r" b="b"/>
            <a:pathLst>
              <a:path w="5452197" h="2732568" extrusionOk="0">
                <a:moveTo>
                  <a:pt x="0" y="0"/>
                </a:moveTo>
                <a:lnTo>
                  <a:pt x="5452197" y="0"/>
                </a:lnTo>
                <a:lnTo>
                  <a:pt x="5452197" y="2732567"/>
                </a:lnTo>
                <a:lnTo>
                  <a:pt x="0" y="2732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3453" b="-6592"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19" name="Google Shape;119;p15"/>
          <p:cNvSpPr/>
          <p:nvPr/>
        </p:nvSpPr>
        <p:spPr>
          <a:xfrm>
            <a:off x="1047750" y="6483705"/>
            <a:ext cx="5471247" cy="2723043"/>
          </a:xfrm>
          <a:custGeom>
            <a:avLst/>
            <a:gdLst/>
            <a:ahLst/>
            <a:cxnLst/>
            <a:rect l="l" t="t" r="r" b="b"/>
            <a:pathLst>
              <a:path w="5471247" h="2723043" extrusionOk="0">
                <a:moveTo>
                  <a:pt x="0" y="0"/>
                </a:moveTo>
                <a:lnTo>
                  <a:pt x="5471247" y="0"/>
                </a:lnTo>
                <a:lnTo>
                  <a:pt x="5471247" y="2723043"/>
                </a:lnTo>
                <a:lnTo>
                  <a:pt x="0" y="2723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4424" b="-16838"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20" name="Google Shape;120;p15"/>
          <p:cNvSpPr/>
          <p:nvPr/>
        </p:nvSpPr>
        <p:spPr>
          <a:xfrm>
            <a:off x="15649082" y="2208490"/>
            <a:ext cx="1295676" cy="1364973"/>
          </a:xfrm>
          <a:custGeom>
            <a:avLst/>
            <a:gdLst/>
            <a:ahLst/>
            <a:cxnLst/>
            <a:rect l="l" t="t" r="r" b="b"/>
            <a:pathLst>
              <a:path w="1295676" h="1364973" extrusionOk="0">
                <a:moveTo>
                  <a:pt x="0" y="0"/>
                </a:moveTo>
                <a:lnTo>
                  <a:pt x="1295675" y="0"/>
                </a:lnTo>
                <a:lnTo>
                  <a:pt x="1295675" y="1364973"/>
                </a:lnTo>
                <a:lnTo>
                  <a:pt x="0" y="1364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21" name="Google Shape;121;p15"/>
          <p:cNvSpPr txBox="1"/>
          <p:nvPr/>
        </p:nvSpPr>
        <p:spPr>
          <a:xfrm>
            <a:off x="7053349" y="1645328"/>
            <a:ext cx="9658177" cy="170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1" b="1" i="0" u="none" strike="noStrike" cap="none">
                <a:solidFill>
                  <a:srgbClr val="000B3D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APP STRUCTURE: LOGIC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814500" y="4054575"/>
            <a:ext cx="10130400" cy="732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React Native is a Framework used commonly for mobile application development using JavaScript and React (JavaScript Library). Using this, a simple elderly friendly UI can be created.</a:t>
            </a:r>
            <a:endParaRPr dirty="0"/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Using </a:t>
            </a:r>
            <a:r>
              <a:rPr lang="en-US" sz="2429" b="0" i="0" u="none" strike="noStrike" cap="none" dirty="0" err="1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PuzzleMe</a:t>
            </a: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 I will develop my own applications and include </a:t>
            </a:r>
            <a:r>
              <a:rPr lang="en-US" sz="2429" b="0" i="0" u="none" strike="noStrike" cap="none" dirty="0" err="1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PuzzleMe</a:t>
            </a: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 features through the </a:t>
            </a:r>
            <a:r>
              <a:rPr lang="en-US" sz="2429" b="0" i="0" u="none" strike="noStrike" cap="none" dirty="0" err="1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PuzzleMe</a:t>
            </a: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 APIs.</a:t>
            </a:r>
            <a:endParaRPr dirty="0"/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Amazon Web Services will be used for hosting User data, track scores, etc. This allows for updating &amp; tracking of user data through our app. </a:t>
            </a:r>
            <a:endParaRPr dirty="0"/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6"/>
          <p:cNvGrpSpPr/>
          <p:nvPr/>
        </p:nvGrpSpPr>
        <p:grpSpPr>
          <a:xfrm>
            <a:off x="1028700" y="3746983"/>
            <a:ext cx="8591550" cy="5511317"/>
            <a:chOff x="0" y="-38100"/>
            <a:chExt cx="2545644" cy="1632983"/>
          </a:xfrm>
        </p:grpSpPr>
        <p:sp>
          <p:nvSpPr>
            <p:cNvPr id="128" name="Google Shape;128;p16"/>
            <p:cNvSpPr/>
            <p:nvPr/>
          </p:nvSpPr>
          <p:spPr>
            <a:xfrm>
              <a:off x="0" y="0"/>
              <a:ext cx="2545644" cy="1594883"/>
            </a:xfrm>
            <a:custGeom>
              <a:avLst/>
              <a:gdLst/>
              <a:ahLst/>
              <a:cxnLst/>
              <a:rect l="l" t="t" r="r" b="b"/>
              <a:pathLst>
                <a:path w="2545644" h="1594883" extrusionOk="0">
                  <a:moveTo>
                    <a:pt x="0" y="0"/>
                  </a:moveTo>
                  <a:lnTo>
                    <a:pt x="2545644" y="0"/>
                  </a:lnTo>
                  <a:lnTo>
                    <a:pt x="2545644" y="1594883"/>
                  </a:lnTo>
                  <a:lnTo>
                    <a:pt x="0" y="15948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0" y="-38100"/>
              <a:ext cx="2545644" cy="1632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9999550" y="3714836"/>
            <a:ext cx="7259750" cy="1241835"/>
            <a:chOff x="0" y="-47625"/>
            <a:chExt cx="2151037" cy="367951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0"/>
              <a:ext cx="2151037" cy="320326"/>
            </a:xfrm>
            <a:custGeom>
              <a:avLst/>
              <a:gdLst/>
              <a:ahLst/>
              <a:cxnLst/>
              <a:rect l="l" t="t" r="r" b="b"/>
              <a:pathLst>
                <a:path w="2151037" h="320326" extrusionOk="0">
                  <a:moveTo>
                    <a:pt x="0" y="0"/>
                  </a:moveTo>
                  <a:lnTo>
                    <a:pt x="2151037" y="0"/>
                  </a:lnTo>
                  <a:lnTo>
                    <a:pt x="2151037" y="320326"/>
                  </a:lnTo>
                  <a:lnTo>
                    <a:pt x="0" y="320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0" y="-47625"/>
              <a:ext cx="2151037" cy="367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99" b="0" i="0" u="none" strike="noStrike" cap="none">
                  <a:solidFill>
                    <a:srgbClr val="000B3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PUZZLES WITH INCREASING DIFFICULTY</a:t>
              </a:r>
              <a:endParaRPr/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9999550" y="5148361"/>
            <a:ext cx="7259750" cy="1241835"/>
            <a:chOff x="0" y="-47625"/>
            <a:chExt cx="2151037" cy="367951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2151037" cy="320326"/>
            </a:xfrm>
            <a:custGeom>
              <a:avLst/>
              <a:gdLst/>
              <a:ahLst/>
              <a:cxnLst/>
              <a:rect l="l" t="t" r="r" b="b"/>
              <a:pathLst>
                <a:path w="2151037" h="320326" extrusionOk="0">
                  <a:moveTo>
                    <a:pt x="0" y="0"/>
                  </a:moveTo>
                  <a:lnTo>
                    <a:pt x="2151037" y="0"/>
                  </a:lnTo>
                  <a:lnTo>
                    <a:pt x="2151037" y="320326"/>
                  </a:lnTo>
                  <a:lnTo>
                    <a:pt x="0" y="320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0" y="-47625"/>
              <a:ext cx="2151037" cy="367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99" b="0" i="0" u="none" strike="noStrike" cap="none">
                  <a:solidFill>
                    <a:srgbClr val="000B3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ASSISTED  GUIDANCE</a:t>
              </a:r>
              <a:endParaRPr/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9999550" y="6582940"/>
            <a:ext cx="7259750" cy="1241835"/>
            <a:chOff x="0" y="-47625"/>
            <a:chExt cx="2151037" cy="367951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2151037" cy="320326"/>
            </a:xfrm>
            <a:custGeom>
              <a:avLst/>
              <a:gdLst/>
              <a:ahLst/>
              <a:cxnLst/>
              <a:rect l="l" t="t" r="r" b="b"/>
              <a:pathLst>
                <a:path w="2151037" h="320326" extrusionOk="0">
                  <a:moveTo>
                    <a:pt x="0" y="0"/>
                  </a:moveTo>
                  <a:lnTo>
                    <a:pt x="2151037" y="0"/>
                  </a:lnTo>
                  <a:lnTo>
                    <a:pt x="2151037" y="320326"/>
                  </a:lnTo>
                  <a:lnTo>
                    <a:pt x="0" y="320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0" y="-47625"/>
              <a:ext cx="2151037" cy="367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99" b="0" i="0" u="none" strike="noStrike" cap="none">
                  <a:solidFill>
                    <a:srgbClr val="000B3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PROGRESS &amp; ANALYTICS</a:t>
              </a:r>
              <a:endParaRPr/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9999550" y="8016465"/>
            <a:ext cx="7259750" cy="1241835"/>
            <a:chOff x="0" y="-47625"/>
            <a:chExt cx="2151037" cy="367951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2151037" cy="320326"/>
            </a:xfrm>
            <a:custGeom>
              <a:avLst/>
              <a:gdLst/>
              <a:ahLst/>
              <a:cxnLst/>
              <a:rect l="l" t="t" r="r" b="b"/>
              <a:pathLst>
                <a:path w="2151037" h="320326" extrusionOk="0">
                  <a:moveTo>
                    <a:pt x="0" y="0"/>
                  </a:moveTo>
                  <a:lnTo>
                    <a:pt x="2151037" y="0"/>
                  </a:lnTo>
                  <a:lnTo>
                    <a:pt x="2151037" y="320326"/>
                  </a:lnTo>
                  <a:lnTo>
                    <a:pt x="0" y="320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0" y="-47625"/>
              <a:ext cx="2151037" cy="367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99" b="0" i="0" u="none" strike="noStrike" cap="none">
                  <a:solidFill>
                    <a:srgbClr val="000B3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DAILY REMINDERS</a:t>
              </a:r>
              <a:endParaRPr/>
            </a:p>
          </p:txBody>
        </p:sp>
      </p:grpSp>
      <p:cxnSp>
        <p:nvCxnSpPr>
          <p:cNvPr id="142" name="Google Shape;142;p16"/>
          <p:cNvCxnSpPr/>
          <p:nvPr/>
        </p:nvCxnSpPr>
        <p:spPr>
          <a:xfrm>
            <a:off x="1038225" y="1038225"/>
            <a:ext cx="0" cy="2888451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>
            <a:off x="17249775" y="1047750"/>
            <a:ext cx="0" cy="2862898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rot="10800000">
            <a:off x="1038225" y="1047750"/>
            <a:ext cx="16221075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6"/>
          <p:cNvSpPr/>
          <p:nvPr/>
        </p:nvSpPr>
        <p:spPr>
          <a:xfrm>
            <a:off x="15414812" y="1822719"/>
            <a:ext cx="1222047" cy="1287407"/>
          </a:xfrm>
          <a:custGeom>
            <a:avLst/>
            <a:gdLst/>
            <a:ahLst/>
            <a:cxnLst/>
            <a:rect l="l" t="t" r="r" b="b"/>
            <a:pathLst>
              <a:path w="1222047" h="1287407" extrusionOk="0">
                <a:moveTo>
                  <a:pt x="0" y="0"/>
                </a:moveTo>
                <a:lnTo>
                  <a:pt x="1222046" y="0"/>
                </a:lnTo>
                <a:lnTo>
                  <a:pt x="1222046" y="1287407"/>
                </a:lnTo>
                <a:lnTo>
                  <a:pt x="0" y="1287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46" name="Google Shape;146;p16"/>
          <p:cNvSpPr txBox="1"/>
          <p:nvPr/>
        </p:nvSpPr>
        <p:spPr>
          <a:xfrm>
            <a:off x="3933825" y="1822700"/>
            <a:ext cx="10420350" cy="170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1" b="1" i="0" u="none" strike="noStrike" cap="none">
                <a:solidFill>
                  <a:srgbClr val="000B3D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APP STRUCTURE: PUZZLES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418915" y="4091320"/>
            <a:ext cx="7811100" cy="50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Squares is a cognitive puzzle application that modifies its current state of difficulty according to user progression monitored by an AWS database.</a:t>
            </a:r>
            <a:endParaRPr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Puzzles automatically adjusts difficulty according to performance. </a:t>
            </a:r>
            <a:endParaRPr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A virtual assistant provides users with guidance, feedback, and regular notifications to encourage consistent involvement and dedication over time.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7"/>
          <p:cNvGrpSpPr/>
          <p:nvPr/>
        </p:nvGrpSpPr>
        <p:grpSpPr>
          <a:xfrm>
            <a:off x="9128624" y="919162"/>
            <a:ext cx="8121151" cy="5619404"/>
            <a:chOff x="0" y="-38100"/>
            <a:chExt cx="2406267" cy="1665008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2406267" cy="1626908"/>
            </a:xfrm>
            <a:custGeom>
              <a:avLst/>
              <a:gdLst/>
              <a:ahLst/>
              <a:cxnLst/>
              <a:rect l="l" t="t" r="r" b="b"/>
              <a:pathLst>
                <a:path w="2406267" h="1626908" extrusionOk="0">
                  <a:moveTo>
                    <a:pt x="0" y="0"/>
                  </a:moveTo>
                  <a:lnTo>
                    <a:pt x="2406267" y="0"/>
                  </a:lnTo>
                  <a:lnTo>
                    <a:pt x="2406267" y="1626908"/>
                  </a:lnTo>
                  <a:lnTo>
                    <a:pt x="0" y="16269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0" y="-38100"/>
              <a:ext cx="2406267" cy="1665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5" name="Google Shape;155;p17"/>
          <p:cNvCxnSpPr/>
          <p:nvPr/>
        </p:nvCxnSpPr>
        <p:spPr>
          <a:xfrm>
            <a:off x="1047750" y="1047750"/>
            <a:ext cx="0" cy="8168523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17"/>
          <p:cNvCxnSpPr/>
          <p:nvPr/>
        </p:nvCxnSpPr>
        <p:spPr>
          <a:xfrm rot="10800000">
            <a:off x="1043425" y="1057275"/>
            <a:ext cx="16201149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7" name="Google Shape;157;p17"/>
          <p:cNvGrpSpPr/>
          <p:nvPr/>
        </p:nvGrpSpPr>
        <p:grpSpPr>
          <a:xfrm>
            <a:off x="1047750" y="6386513"/>
            <a:ext cx="2719788" cy="2871788"/>
            <a:chOff x="0" y="-38100"/>
            <a:chExt cx="805863" cy="850900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805863" cy="812800"/>
            </a:xfrm>
            <a:custGeom>
              <a:avLst/>
              <a:gdLst/>
              <a:ahLst/>
              <a:cxnLst/>
              <a:rect l="l" t="t" r="r" b="b"/>
              <a:pathLst>
                <a:path w="805863" h="812800" extrusionOk="0">
                  <a:moveTo>
                    <a:pt x="0" y="0"/>
                  </a:moveTo>
                  <a:lnTo>
                    <a:pt x="805863" y="0"/>
                  </a:lnTo>
                  <a:lnTo>
                    <a:pt x="8058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0" y="-38100"/>
              <a:ext cx="80586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3745929" y="6386513"/>
            <a:ext cx="2719788" cy="2871788"/>
            <a:chOff x="0" y="-38100"/>
            <a:chExt cx="805863" cy="850900"/>
          </a:xfrm>
        </p:grpSpPr>
        <p:sp>
          <p:nvSpPr>
            <p:cNvPr id="161" name="Google Shape;161;p17"/>
            <p:cNvSpPr/>
            <p:nvPr/>
          </p:nvSpPr>
          <p:spPr>
            <a:xfrm>
              <a:off x="0" y="0"/>
              <a:ext cx="805863" cy="812800"/>
            </a:xfrm>
            <a:custGeom>
              <a:avLst/>
              <a:gdLst/>
              <a:ahLst/>
              <a:cxnLst/>
              <a:rect l="l" t="t" r="r" b="b"/>
              <a:pathLst>
                <a:path w="805863" h="812800" extrusionOk="0">
                  <a:moveTo>
                    <a:pt x="0" y="0"/>
                  </a:moveTo>
                  <a:lnTo>
                    <a:pt x="805863" y="0"/>
                  </a:lnTo>
                  <a:lnTo>
                    <a:pt x="8058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0" y="-38100"/>
              <a:ext cx="80586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6438967" y="6386513"/>
            <a:ext cx="2719788" cy="2871788"/>
            <a:chOff x="0" y="-38100"/>
            <a:chExt cx="805863" cy="8509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805863" cy="812800"/>
            </a:xfrm>
            <a:custGeom>
              <a:avLst/>
              <a:gdLst/>
              <a:ahLst/>
              <a:cxnLst/>
              <a:rect l="l" t="t" r="r" b="b"/>
              <a:pathLst>
                <a:path w="805863" h="812800" extrusionOk="0">
                  <a:moveTo>
                    <a:pt x="0" y="0"/>
                  </a:moveTo>
                  <a:lnTo>
                    <a:pt x="805863" y="0"/>
                  </a:lnTo>
                  <a:lnTo>
                    <a:pt x="8058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0" y="-38100"/>
              <a:ext cx="80586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9128624" y="6386513"/>
            <a:ext cx="2719788" cy="2871788"/>
            <a:chOff x="0" y="-38100"/>
            <a:chExt cx="805863" cy="850900"/>
          </a:xfrm>
        </p:grpSpPr>
        <p:sp>
          <p:nvSpPr>
            <p:cNvPr id="167" name="Google Shape;167;p17"/>
            <p:cNvSpPr/>
            <p:nvPr/>
          </p:nvSpPr>
          <p:spPr>
            <a:xfrm>
              <a:off x="0" y="0"/>
              <a:ext cx="805863" cy="812800"/>
            </a:xfrm>
            <a:custGeom>
              <a:avLst/>
              <a:gdLst/>
              <a:ahLst/>
              <a:cxnLst/>
              <a:rect l="l" t="t" r="r" b="b"/>
              <a:pathLst>
                <a:path w="805863" h="812800" extrusionOk="0">
                  <a:moveTo>
                    <a:pt x="0" y="0"/>
                  </a:moveTo>
                  <a:lnTo>
                    <a:pt x="805863" y="0"/>
                  </a:lnTo>
                  <a:lnTo>
                    <a:pt x="8058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0" y="-38100"/>
              <a:ext cx="80586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11829305" y="6386513"/>
            <a:ext cx="2719788" cy="2871788"/>
            <a:chOff x="0" y="-38100"/>
            <a:chExt cx="805863" cy="850900"/>
          </a:xfrm>
        </p:grpSpPr>
        <p:sp>
          <p:nvSpPr>
            <p:cNvPr id="170" name="Google Shape;170;p17"/>
            <p:cNvSpPr/>
            <p:nvPr/>
          </p:nvSpPr>
          <p:spPr>
            <a:xfrm>
              <a:off x="0" y="0"/>
              <a:ext cx="805863" cy="812800"/>
            </a:xfrm>
            <a:custGeom>
              <a:avLst/>
              <a:gdLst/>
              <a:ahLst/>
              <a:cxnLst/>
              <a:rect l="l" t="t" r="r" b="b"/>
              <a:pathLst>
                <a:path w="805863" h="812800" extrusionOk="0">
                  <a:moveTo>
                    <a:pt x="0" y="0"/>
                  </a:moveTo>
                  <a:lnTo>
                    <a:pt x="805863" y="0"/>
                  </a:lnTo>
                  <a:lnTo>
                    <a:pt x="8058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0" y="-38100"/>
              <a:ext cx="80586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14529987" y="6386513"/>
            <a:ext cx="2719788" cy="2871788"/>
            <a:chOff x="0" y="-38100"/>
            <a:chExt cx="805863" cy="850900"/>
          </a:xfrm>
        </p:grpSpPr>
        <p:sp>
          <p:nvSpPr>
            <p:cNvPr id="173" name="Google Shape;173;p17"/>
            <p:cNvSpPr/>
            <p:nvPr/>
          </p:nvSpPr>
          <p:spPr>
            <a:xfrm>
              <a:off x="0" y="0"/>
              <a:ext cx="805863" cy="812800"/>
            </a:xfrm>
            <a:custGeom>
              <a:avLst/>
              <a:gdLst/>
              <a:ahLst/>
              <a:cxnLst/>
              <a:rect l="l" t="t" r="r" b="b"/>
              <a:pathLst>
                <a:path w="805863" h="812800" extrusionOk="0">
                  <a:moveTo>
                    <a:pt x="0" y="0"/>
                  </a:moveTo>
                  <a:lnTo>
                    <a:pt x="805863" y="0"/>
                  </a:lnTo>
                  <a:lnTo>
                    <a:pt x="8058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0" y="-38100"/>
              <a:ext cx="80586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7"/>
          <p:cNvSpPr/>
          <p:nvPr/>
        </p:nvSpPr>
        <p:spPr>
          <a:xfrm>
            <a:off x="7825612" y="1153259"/>
            <a:ext cx="1222047" cy="1287407"/>
          </a:xfrm>
          <a:custGeom>
            <a:avLst/>
            <a:gdLst/>
            <a:ahLst/>
            <a:cxnLst/>
            <a:rect l="l" t="t" r="r" b="b"/>
            <a:pathLst>
              <a:path w="1222047" h="1287407" extrusionOk="0">
                <a:moveTo>
                  <a:pt x="0" y="0"/>
                </a:moveTo>
                <a:lnTo>
                  <a:pt x="1222047" y="0"/>
                </a:lnTo>
                <a:lnTo>
                  <a:pt x="1222047" y="1287406"/>
                </a:lnTo>
                <a:lnTo>
                  <a:pt x="0" y="1287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76" name="Google Shape;176;p17"/>
          <p:cNvSpPr txBox="1"/>
          <p:nvPr/>
        </p:nvSpPr>
        <p:spPr>
          <a:xfrm>
            <a:off x="1450545" y="2631165"/>
            <a:ext cx="7152463" cy="251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1" b="1" i="0" u="none" strike="noStrike" cap="none">
                <a:solidFill>
                  <a:srgbClr val="000B3D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SO WHAT IS COGNITIVE FUNCTION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483761" y="1450643"/>
            <a:ext cx="7302872" cy="4281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The mental processes that allow individuals to acquire knowledge, process information, think, and solve issues are commonly referred to as cognitive function. </a:t>
            </a:r>
            <a:endParaRPr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Regular exercise, adequate sleep, a nutritious diet, mental exercises mindfulness and meditation are all strategies to improve your brain's cognitive skills. We at Squares focus directly on the Mental Exercises aspect. 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265253" y="7615237"/>
            <a:ext cx="1523048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000B3D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1848413" y="7615237"/>
            <a:ext cx="2719788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000B3D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465718" y="7615237"/>
            <a:ext cx="2719788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158755" y="7615237"/>
            <a:ext cx="2719788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47750" y="7615237"/>
            <a:ext cx="2719788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4524786" y="7615237"/>
            <a:ext cx="2719788" cy="49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8"/>
          <p:cNvGrpSpPr/>
          <p:nvPr/>
        </p:nvGrpSpPr>
        <p:grpSpPr>
          <a:xfrm>
            <a:off x="12565065" y="890587"/>
            <a:ext cx="4705665" cy="8381048"/>
            <a:chOff x="0" y="-38100"/>
            <a:chExt cx="1394271" cy="2483273"/>
          </a:xfrm>
        </p:grpSpPr>
        <p:sp>
          <p:nvSpPr>
            <p:cNvPr id="189" name="Google Shape;189;p18"/>
            <p:cNvSpPr/>
            <p:nvPr/>
          </p:nvSpPr>
          <p:spPr>
            <a:xfrm>
              <a:off x="0" y="0"/>
              <a:ext cx="1394271" cy="2445173"/>
            </a:xfrm>
            <a:custGeom>
              <a:avLst/>
              <a:gdLst/>
              <a:ahLst/>
              <a:cxnLst/>
              <a:rect l="l" t="t" r="r" b="b"/>
              <a:pathLst>
                <a:path w="1394271" h="2445173" extrusionOk="0">
                  <a:moveTo>
                    <a:pt x="0" y="0"/>
                  </a:moveTo>
                  <a:lnTo>
                    <a:pt x="1394271" y="0"/>
                  </a:lnTo>
                  <a:lnTo>
                    <a:pt x="1394271" y="2445173"/>
                  </a:lnTo>
                  <a:lnTo>
                    <a:pt x="0" y="2445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0B3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0" y="-38100"/>
              <a:ext cx="1394271" cy="24832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150" tIns="42150" rIns="42150" bIns="42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8"/>
          <p:cNvSpPr txBox="1"/>
          <p:nvPr/>
        </p:nvSpPr>
        <p:spPr>
          <a:xfrm>
            <a:off x="1709065" y="4488469"/>
            <a:ext cx="9911239" cy="471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4637" marR="0" lvl="1" indent="-262318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B3D"/>
              </a:buClr>
              <a:buSzPts val="2429"/>
              <a:buFont typeface="Arial"/>
              <a:buChar char="•"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Assess performance, speed, correctness, etc.</a:t>
            </a:r>
            <a:endParaRPr dirty="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24637" marR="0" lvl="1" indent="-262318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B3D"/>
              </a:buClr>
              <a:buSzPts val="2429"/>
              <a:buFont typeface="Arial"/>
              <a:buChar char="•"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Analyze data and track falls/peaks in progression.</a:t>
            </a:r>
            <a:endParaRPr dirty="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24637" marR="0" lvl="1" indent="-262318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B3D"/>
              </a:buClr>
              <a:buSzPts val="2429"/>
              <a:buFont typeface="Arial"/>
              <a:buChar char="•"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Adjust puzzle difficulty accordingly &amp; shift focus to weaker pillars.</a:t>
            </a:r>
            <a:endParaRPr dirty="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24637" marR="0" lvl="1" indent="-262318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B3D"/>
              </a:buClr>
              <a:buSzPts val="2429"/>
              <a:buFont typeface="Arial"/>
              <a:buChar char="•"/>
            </a:pPr>
            <a:r>
              <a:rPr lang="en-US" sz="2429" b="0" i="0" u="none" strike="noStrike" cap="none" dirty="0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Assist users with feedback.</a:t>
            </a:r>
            <a:endParaRPr dirty="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 dirty="0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192" name="Google Shape;192;p18"/>
          <p:cNvCxnSpPr/>
          <p:nvPr/>
        </p:nvCxnSpPr>
        <p:spPr>
          <a:xfrm>
            <a:off x="1028700" y="1019175"/>
            <a:ext cx="0" cy="8239125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18"/>
          <p:cNvCxnSpPr/>
          <p:nvPr/>
        </p:nvCxnSpPr>
        <p:spPr>
          <a:xfrm rot="10800000">
            <a:off x="1028700" y="1028700"/>
            <a:ext cx="16230600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18"/>
          <p:cNvCxnSpPr/>
          <p:nvPr/>
        </p:nvCxnSpPr>
        <p:spPr>
          <a:xfrm rot="10800000">
            <a:off x="1062038" y="9258300"/>
            <a:ext cx="16163925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68255" y="305313"/>
            <a:ext cx="5347761" cy="868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/>
          <p:nvPr/>
        </p:nvSpPr>
        <p:spPr>
          <a:xfrm>
            <a:off x="11165291" y="7697819"/>
            <a:ext cx="1222047" cy="1287407"/>
          </a:xfrm>
          <a:custGeom>
            <a:avLst/>
            <a:gdLst/>
            <a:ahLst/>
            <a:cxnLst/>
            <a:rect l="l" t="t" r="r" b="b"/>
            <a:pathLst>
              <a:path w="1222047" h="1287407" extrusionOk="0">
                <a:moveTo>
                  <a:pt x="0" y="0"/>
                </a:moveTo>
                <a:lnTo>
                  <a:pt x="1222047" y="0"/>
                </a:lnTo>
                <a:lnTo>
                  <a:pt x="1222047" y="1287406"/>
                </a:lnTo>
                <a:lnTo>
                  <a:pt x="0" y="1287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197" name="Google Shape;197;p18"/>
          <p:cNvSpPr txBox="1"/>
          <p:nvPr/>
        </p:nvSpPr>
        <p:spPr>
          <a:xfrm>
            <a:off x="1865075" y="1278850"/>
            <a:ext cx="9911400" cy="1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 dirty="0">
                <a:solidFill>
                  <a:srgbClr val="000B3D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HOW WE TRACK DATA &amp; ASSIST GROWTH</a:t>
            </a:r>
            <a:endParaRPr sz="6500"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3384688" y="3329600"/>
            <a:ext cx="68244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i="1" u="none" strike="noStrike" cap="none">
                <a:solidFill>
                  <a:srgbClr val="000B3D"/>
                </a:solidFill>
                <a:latin typeface="Arial"/>
                <a:ea typeface="Arial"/>
                <a:cs typeface="Arial"/>
                <a:sym typeface="Arial"/>
              </a:rPr>
              <a:t>Assess, Analyze, Adjust, Assist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1241030" y="1547933"/>
            <a:ext cx="9911239" cy="170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1" b="1" i="0" u="none" strike="noStrike" cap="none">
                <a:solidFill>
                  <a:srgbClr val="000B3D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FIRST ITERATION PLAN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048120" y="3515077"/>
            <a:ext cx="9911239" cy="556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Construct and link up a simple set of puzzles using the PuzzleMe site &amp; API.</a:t>
            </a:r>
            <a:endParaRPr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Record simple data, like completion times or average time spent on certain sections.</a:t>
            </a:r>
            <a:endParaRPr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Test out adaptive difficulty, value tracking.</a:t>
            </a:r>
            <a:endParaRPr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Simplistic UI, basic functionality, don’t focus too heavy on looks.</a:t>
            </a:r>
            <a:endParaRPr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9" b="0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Set up database for storing simple test data.</a:t>
            </a:r>
            <a:endParaRPr/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29" b="0" i="0" u="none" strike="noStrike" cap="none">
              <a:solidFill>
                <a:srgbClr val="000B3D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05" name="Google Shape;205;p19"/>
          <p:cNvCxnSpPr/>
          <p:nvPr/>
        </p:nvCxnSpPr>
        <p:spPr>
          <a:xfrm>
            <a:off x="1028700" y="1019175"/>
            <a:ext cx="0" cy="8239125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9"/>
          <p:cNvCxnSpPr/>
          <p:nvPr/>
        </p:nvCxnSpPr>
        <p:spPr>
          <a:xfrm rot="10800000">
            <a:off x="1028700" y="1028700"/>
            <a:ext cx="16268700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19"/>
          <p:cNvCxnSpPr/>
          <p:nvPr/>
        </p:nvCxnSpPr>
        <p:spPr>
          <a:xfrm rot="10800000">
            <a:off x="1062038" y="9258300"/>
            <a:ext cx="16235362" cy="0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9"/>
          <p:cNvCxnSpPr/>
          <p:nvPr/>
        </p:nvCxnSpPr>
        <p:spPr>
          <a:xfrm>
            <a:off x="17297400" y="1019175"/>
            <a:ext cx="0" cy="8239125"/>
          </a:xfrm>
          <a:prstGeom prst="straightConnector1">
            <a:avLst/>
          </a:prstGeom>
          <a:noFill/>
          <a:ln w="19050" cap="flat" cmpd="sng">
            <a:solidFill>
              <a:srgbClr val="000B3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9"/>
          <p:cNvSpPr/>
          <p:nvPr/>
        </p:nvSpPr>
        <p:spPr>
          <a:xfrm>
            <a:off x="1241030" y="7559142"/>
            <a:ext cx="1222047" cy="1287407"/>
          </a:xfrm>
          <a:custGeom>
            <a:avLst/>
            <a:gdLst/>
            <a:ahLst/>
            <a:cxnLst/>
            <a:rect l="l" t="t" r="r" b="b"/>
            <a:pathLst>
              <a:path w="1222047" h="1287407" extrusionOk="0">
                <a:moveTo>
                  <a:pt x="0" y="0"/>
                </a:moveTo>
                <a:lnTo>
                  <a:pt x="1222047" y="0"/>
                </a:lnTo>
                <a:lnTo>
                  <a:pt x="1222047" y="1287407"/>
                </a:lnTo>
                <a:lnTo>
                  <a:pt x="0" y="1287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E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8532977" y="5050734"/>
            <a:ext cx="1222047" cy="1287407"/>
          </a:xfrm>
          <a:custGeom>
            <a:avLst/>
            <a:gdLst/>
            <a:ahLst/>
            <a:cxnLst/>
            <a:rect l="l" t="t" r="r" b="b"/>
            <a:pathLst>
              <a:path w="1222047" h="1287407" extrusionOk="0">
                <a:moveTo>
                  <a:pt x="0" y="0"/>
                </a:moveTo>
                <a:lnTo>
                  <a:pt x="1222046" y="0"/>
                </a:lnTo>
                <a:lnTo>
                  <a:pt x="1222046" y="1287407"/>
                </a:lnTo>
                <a:lnTo>
                  <a:pt x="0" y="1287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215" name="Google Shape;215;p20"/>
          <p:cNvSpPr txBox="1"/>
          <p:nvPr/>
        </p:nvSpPr>
        <p:spPr>
          <a:xfrm>
            <a:off x="4801975" y="3126225"/>
            <a:ext cx="9403200" cy="1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91" b="1" i="0" u="none" strike="noStrike" cap="none">
                <a:solidFill>
                  <a:srgbClr val="000B3D"/>
                </a:solidFill>
                <a:latin typeface="Public Sans"/>
                <a:ea typeface="Public Sans"/>
                <a:cs typeface="Public Sans"/>
                <a:sym typeface="Public Sans"/>
              </a:rPr>
              <a:t>SQUARES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610936" y="6651761"/>
            <a:ext cx="149010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b="0" i="0" u="none" strike="noStrike" cap="none">
                <a:solidFill>
                  <a:srgbClr val="57C1D9"/>
                </a:solidFill>
                <a:latin typeface="Arial"/>
                <a:ea typeface="Arial"/>
                <a:cs typeface="Arial"/>
                <a:sym typeface="Arial"/>
              </a:rPr>
              <a:t>Structured support for cognitive health.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Custom</PresentationFormat>
  <Paragraphs>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Sansita</vt:lpstr>
      <vt:lpstr>Arial</vt:lpstr>
      <vt:lpstr>Calibri</vt:lpstr>
      <vt:lpstr>Public Sans Black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(Student  C00297672) Ciaran O Toole</cp:lastModifiedBy>
  <cp:revision>8</cp:revision>
  <dcterms:modified xsi:type="dcterms:W3CDTF">2026-02-03T09:32:48Z</dcterms:modified>
</cp:coreProperties>
</file>